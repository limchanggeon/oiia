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FF3300"/>
    <a:srgbClr val="FB3A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44637-1D0D-E1AB-9442-E18CFC11BE63}" v="683" dt="2026-07-05T18:19:13.100"/>
    <p1510:client id="{84DD720F-FD57-4190-98D8-9D2C12C6EAC0}" v="2715" dt="2026-07-05T18:20:02.918"/>
  </p1510:revLst>
</p1510:revInfo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0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>
            <p:extLst>
              <p:ext uri="{D42A27DB-BD31-4B8C-83A1-F6EECF244321}">
                <p14:modId xmlns:p14="http://schemas.microsoft.com/office/powerpoint/2010/main" val="227351264"/>
              </p:ext>
            </p:extLst>
          </p:nvPr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 err="1"/>
                        <a:t>팀명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oiia</a:t>
                      </a:r>
                      <a:endParaRPr lang="en-US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대학명</a:t>
                      </a:r>
                      <a:endParaRPr lang="ko-KR" alt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프로젝트명</a:t>
                      </a:r>
                      <a:endParaRPr lang="ko-KR" alt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바로타 (가칭)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>
            <p:extLst>
              <p:ext uri="{D42A27DB-BD31-4B8C-83A1-F6EECF244321}">
                <p14:modId xmlns:p14="http://schemas.microsoft.com/office/powerpoint/2010/main" val="1230521653"/>
              </p:ext>
            </p:extLst>
          </p:nvPr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 err="1"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400" b="0" i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 err="1"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i="1">
                          <a:solidFill>
                            <a:srgbClr val="0070C0"/>
                          </a:solidFill>
                        </a:rPr>
                        <a:t>oiia</a:t>
                      </a:r>
                      <a:endParaRPr altLang="en-US" sz="1400" i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</a:t>
                      </a:r>
                      <a:r>
                        <a:rPr sz="1400" b="0" i="0" u="none" cap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(</a:t>
                      </a:r>
                      <a:r>
                        <a:rPr sz="1400" b="0" i="0" u="none" cap="non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학과</a:t>
                      </a:r>
                      <a:r>
                        <a:rPr sz="1400" b="0" i="0" u="none" cap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i="1" dirty="0" err="1">
                          <a:solidFill>
                            <a:srgbClr val="0070C0"/>
                          </a:solidFill>
                        </a:rPr>
                        <a:t>팀장</a:t>
                      </a:r>
                      <a:r>
                        <a:rPr sz="1400" i="1" dirty="0">
                          <a:solidFill>
                            <a:srgbClr val="0070C0"/>
                          </a:solidFill>
                        </a:rPr>
                        <a:t xml:space="preserve"> </a:t>
                      </a:r>
                      <a:r>
                        <a:rPr lang="ko-KR" sz="1400" i="1" dirty="0">
                          <a:solidFill>
                            <a:srgbClr val="0070C0"/>
                          </a:solidFill>
                        </a:rPr>
                        <a:t>임창건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</a:rPr>
                        <a:t>컴퓨터융합학부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),</a:t>
                      </a:r>
                      <a:r>
                        <a:rPr sz="1400" i="1" dirty="0">
                          <a:solidFill>
                            <a:srgbClr val="0070C0"/>
                          </a:solidFill>
                        </a:rPr>
                        <a:t xml:space="preserve"> 팀원1 </a:t>
                      </a:r>
                      <a:r>
                        <a:rPr lang="ko-KR" sz="1400" i="1" dirty="0" err="1">
                          <a:solidFill>
                            <a:srgbClr val="0070C0"/>
                          </a:solidFill>
                        </a:rPr>
                        <a:t>홍동완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400" b="0" i="1" u="none" strike="noStrike" noProof="0" dirty="0">
                          <a:solidFill>
                            <a:srgbClr val="0070C0"/>
                          </a:solidFill>
                          <a:latin typeface="Malgun Gothic"/>
                          <a:ea typeface="Malgun Gothic"/>
                        </a:rPr>
                        <a:t>컴퓨터융합학부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),</a:t>
                      </a:r>
                      <a:r>
                        <a:rPr sz="1400" i="1" dirty="0">
                          <a:solidFill>
                            <a:srgbClr val="0070C0"/>
                          </a:solidFill>
                        </a:rPr>
                        <a:t xml:space="preserve"> 팀원2 </a:t>
                      </a:r>
                      <a:r>
                        <a:rPr lang="ko-KR" sz="1400" i="1" dirty="0">
                          <a:solidFill>
                            <a:srgbClr val="0070C0"/>
                          </a:solidFill>
                        </a:rPr>
                        <a:t>박현빈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400" b="0" i="1" u="none" strike="noStrike" noProof="0" dirty="0">
                          <a:solidFill>
                            <a:srgbClr val="0070C0"/>
                          </a:solidFill>
                          <a:latin typeface="Malgun Gothic"/>
                          <a:ea typeface="Malgun Gothic"/>
                        </a:rPr>
                        <a:t>컴퓨터융합학부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sz="1400" i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i="1" u="none" cap="none">
                          <a:solidFill>
                            <a:srgbClr val="0070C0"/>
                          </a:solidFill>
                          <a:latin typeface="+mj-ea"/>
                          <a:ea typeface="+mj-ea"/>
                          <a:cs typeface="+mj-ea"/>
                        </a:rPr>
                        <a:t>바로타 (가칭) - AI Agent 기반 길찾기&amp;예매 원스톱 서비스</a:t>
                      </a:r>
                      <a:endParaRPr sz="1400" b="0" i="1" u="none" cap="none" dirty="0" err="1">
                        <a:solidFill>
                          <a:srgbClr val="0070C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dirty="0" err="1"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b="0" i="1" u="none" cap="none" dirty="0">
                          <a:solidFill>
                            <a:srgbClr val="0070C0"/>
                          </a:solidFill>
                          <a:latin typeface="+mj-ea"/>
                          <a:ea typeface="+mj-ea"/>
                          <a:cs typeface="+mj-ea"/>
                        </a:rPr>
                        <a:t xml:space="preserve">여행 및 </a:t>
                      </a:r>
                      <a:r>
                        <a:rPr lang="ko-KR" altLang="en-US" sz="1400" b="0" i="1" u="none" cap="none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  <a:cs typeface="+mj-ea"/>
                        </a:rPr>
                        <a:t>출장시</a:t>
                      </a:r>
                      <a:r>
                        <a:rPr lang="ko-KR" altLang="en-US" sz="1400" b="0" i="1" u="none" cap="none" dirty="0">
                          <a:solidFill>
                            <a:srgbClr val="0070C0"/>
                          </a:solidFill>
                          <a:latin typeface="+mj-ea"/>
                          <a:ea typeface="+mj-ea"/>
                          <a:cs typeface="+mj-ea"/>
                        </a:rPr>
                        <a:t xml:space="preserve"> 최적의 경로 산출과 예매를 돕는 AI </a:t>
                      </a:r>
                      <a:r>
                        <a:rPr lang="ko-KR" altLang="en-US" sz="1400" b="0" i="1" u="none" cap="none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  <a:cs typeface="+mj-ea"/>
                        </a:rPr>
                        <a:t>Agent</a:t>
                      </a:r>
                      <a:endParaRPr altLang="en-US" sz="1400" b="0" i="1" u="none" cap="none" dirty="0">
                        <a:solidFill>
                          <a:srgbClr val="0070C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주제 제안 배경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C30F0-64B2-398A-1754-800A0AD93216}"/>
              </a:ext>
            </a:extLst>
          </p:cNvPr>
          <p:cNvSpPr txBox="1"/>
          <p:nvPr/>
        </p:nvSpPr>
        <p:spPr>
          <a:xfrm>
            <a:off x="818623" y="1756024"/>
            <a:ext cx="39914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 xml:space="preserve">사용자의 기존 </a:t>
            </a:r>
            <a:r>
              <a:rPr lang="ko-KR" sz="1200" b="1" dirty="0" err="1">
                <a:ea typeface="+mn-lt"/>
                <a:cs typeface="+mn-lt"/>
              </a:rPr>
              <a:t>길찾기</a:t>
            </a:r>
            <a:r>
              <a:rPr lang="ko-KR" sz="1200" b="1" dirty="0">
                <a:ea typeface="+mn-lt"/>
                <a:cs typeface="+mn-lt"/>
              </a:rPr>
              <a:t xml:space="preserve"> </a:t>
            </a:r>
            <a:r>
              <a:rPr lang="ko-KR" altLang="en-US" sz="1200" b="1" dirty="0">
                <a:ea typeface="+mn-lt"/>
                <a:cs typeface="+mn-lt"/>
              </a:rPr>
              <a:t>서비스 사용</a:t>
            </a:r>
            <a:r>
              <a:rPr lang="ko-KR" sz="1200" b="1" dirty="0">
                <a:ea typeface="+mn-lt"/>
                <a:cs typeface="+mn-lt"/>
              </a:rPr>
              <a:t xml:space="preserve"> 방식</a:t>
            </a:r>
            <a:endParaRPr lang="ko-KR" sz="1200" b="1" dirty="0">
              <a:ea typeface="맑은 고딕"/>
              <a:cs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299B24-A6B9-43BB-05F7-25D746A9FE7E}"/>
              </a:ext>
            </a:extLst>
          </p:cNvPr>
          <p:cNvCxnSpPr>
            <a:cxnSpLocks/>
          </p:cNvCxnSpPr>
          <p:nvPr/>
        </p:nvCxnSpPr>
        <p:spPr>
          <a:xfrm>
            <a:off x="1259255" y="2235985"/>
            <a:ext cx="0" cy="31773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B38AF4D-11AB-AD2D-7C3C-0018AFAAC847}"/>
              </a:ext>
            </a:extLst>
          </p:cNvPr>
          <p:cNvGrpSpPr/>
          <p:nvPr/>
        </p:nvGrpSpPr>
        <p:grpSpPr>
          <a:xfrm>
            <a:off x="1064208" y="2455989"/>
            <a:ext cx="390094" cy="390094"/>
            <a:chOff x="1145308" y="2215644"/>
            <a:chExt cx="390094" cy="390094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16FD7BB-52A6-728E-86B1-CE36317B2592}"/>
                </a:ext>
              </a:extLst>
            </p:cNvPr>
            <p:cNvSpPr/>
            <p:nvPr/>
          </p:nvSpPr>
          <p:spPr>
            <a:xfrm>
              <a:off x="1145308" y="2215644"/>
              <a:ext cx="390094" cy="3900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7A6E4C-5F40-BFEF-6939-5E16AB808584}"/>
                </a:ext>
              </a:extLst>
            </p:cNvPr>
            <p:cNvSpPr txBox="1"/>
            <p:nvPr/>
          </p:nvSpPr>
          <p:spPr>
            <a:xfrm>
              <a:off x="1183335" y="2221577"/>
              <a:ext cx="262534" cy="36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1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C098F3A-51B7-8FC3-3E90-B2E4A3D3DD68}"/>
              </a:ext>
            </a:extLst>
          </p:cNvPr>
          <p:cNvGrpSpPr/>
          <p:nvPr/>
        </p:nvGrpSpPr>
        <p:grpSpPr>
          <a:xfrm>
            <a:off x="1064208" y="3036237"/>
            <a:ext cx="390094" cy="390094"/>
            <a:chOff x="1797936" y="2215644"/>
            <a:chExt cx="390094" cy="39009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A0678C5-1E8D-85AA-436C-90212F0ABE35}"/>
                </a:ext>
              </a:extLst>
            </p:cNvPr>
            <p:cNvSpPr/>
            <p:nvPr/>
          </p:nvSpPr>
          <p:spPr>
            <a:xfrm>
              <a:off x="1797936" y="2215644"/>
              <a:ext cx="390094" cy="3900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1C0383-E2ED-44C2-8807-C403A04E3653}"/>
                </a:ext>
              </a:extLst>
            </p:cNvPr>
            <p:cNvSpPr txBox="1"/>
            <p:nvPr/>
          </p:nvSpPr>
          <p:spPr>
            <a:xfrm>
              <a:off x="1835963" y="2220854"/>
              <a:ext cx="262534" cy="36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C000"/>
                  </a:solidFill>
                </a:rPr>
                <a:t>2</a:t>
              </a:r>
              <a:endParaRPr lang="ko-KR" altLang="en-US" b="1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DDE1B20-FB99-4D92-A803-C79F473A1C16}"/>
              </a:ext>
            </a:extLst>
          </p:cNvPr>
          <p:cNvGrpSpPr/>
          <p:nvPr/>
        </p:nvGrpSpPr>
        <p:grpSpPr>
          <a:xfrm>
            <a:off x="1064208" y="4776981"/>
            <a:ext cx="390094" cy="390094"/>
            <a:chOff x="3755820" y="2212341"/>
            <a:chExt cx="390094" cy="39009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E81E593-DFCE-6A86-310E-6D0BAD4C1956}"/>
                </a:ext>
              </a:extLst>
            </p:cNvPr>
            <p:cNvSpPr/>
            <p:nvPr/>
          </p:nvSpPr>
          <p:spPr>
            <a:xfrm>
              <a:off x="3755820" y="2212341"/>
              <a:ext cx="390094" cy="3900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950640-3D2F-32D9-E47D-6E36AA23B280}"/>
                </a:ext>
              </a:extLst>
            </p:cNvPr>
            <p:cNvSpPr txBox="1"/>
            <p:nvPr/>
          </p:nvSpPr>
          <p:spPr>
            <a:xfrm>
              <a:off x="3801013" y="2230878"/>
              <a:ext cx="2625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B3A05"/>
                  </a:solidFill>
                </a:rPr>
                <a:t>5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D579393-F22E-0AA0-B58B-2F2B3279D758}"/>
              </a:ext>
            </a:extLst>
          </p:cNvPr>
          <p:cNvGrpSpPr/>
          <p:nvPr/>
        </p:nvGrpSpPr>
        <p:grpSpPr>
          <a:xfrm>
            <a:off x="1064208" y="3616485"/>
            <a:ext cx="390094" cy="390094"/>
            <a:chOff x="3103192" y="2212341"/>
            <a:chExt cx="390094" cy="390094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05C7651-C4DC-95EE-5630-97D56464A1A8}"/>
                </a:ext>
              </a:extLst>
            </p:cNvPr>
            <p:cNvSpPr/>
            <p:nvPr/>
          </p:nvSpPr>
          <p:spPr>
            <a:xfrm>
              <a:off x="3103192" y="2212341"/>
              <a:ext cx="390094" cy="3900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9D6254-1999-4551-5F9E-21392AE01817}"/>
                </a:ext>
              </a:extLst>
            </p:cNvPr>
            <p:cNvSpPr txBox="1"/>
            <p:nvPr/>
          </p:nvSpPr>
          <p:spPr>
            <a:xfrm>
              <a:off x="3134262" y="2221577"/>
              <a:ext cx="262534" cy="36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3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D99F9B-77CB-2A0A-8B2E-130DC8ED794D}"/>
              </a:ext>
            </a:extLst>
          </p:cNvPr>
          <p:cNvGrpSpPr/>
          <p:nvPr/>
        </p:nvGrpSpPr>
        <p:grpSpPr>
          <a:xfrm>
            <a:off x="1064208" y="4196733"/>
            <a:ext cx="390094" cy="390094"/>
            <a:chOff x="2450564" y="2212341"/>
            <a:chExt cx="390094" cy="39009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11A63999-03C4-7955-F122-B7B4FA745061}"/>
                </a:ext>
              </a:extLst>
            </p:cNvPr>
            <p:cNvSpPr/>
            <p:nvPr/>
          </p:nvSpPr>
          <p:spPr>
            <a:xfrm>
              <a:off x="2450564" y="2212341"/>
              <a:ext cx="390094" cy="3900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973051-BF80-D49B-BEFD-6DCE3007DB72}"/>
                </a:ext>
              </a:extLst>
            </p:cNvPr>
            <p:cNvSpPr txBox="1"/>
            <p:nvPr/>
          </p:nvSpPr>
          <p:spPr>
            <a:xfrm>
              <a:off x="2494672" y="2214650"/>
              <a:ext cx="262534" cy="36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4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E2A1244-858D-7286-62F6-70E663BFB0FD}"/>
              </a:ext>
            </a:extLst>
          </p:cNvPr>
          <p:cNvSpPr txBox="1"/>
          <p:nvPr/>
        </p:nvSpPr>
        <p:spPr>
          <a:xfrm>
            <a:off x="1492329" y="2520531"/>
            <a:ext cx="952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도착지 입력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813806-8EF8-1536-5608-84978B2A864A}"/>
              </a:ext>
            </a:extLst>
          </p:cNvPr>
          <p:cNvSpPr txBox="1"/>
          <p:nvPr/>
        </p:nvSpPr>
        <p:spPr>
          <a:xfrm>
            <a:off x="1500711" y="3694481"/>
            <a:ext cx="835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경로 선택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EA0D7A-3629-3215-837B-9C92EB51473A}"/>
              </a:ext>
            </a:extLst>
          </p:cNvPr>
          <p:cNvSpPr txBox="1"/>
          <p:nvPr/>
        </p:nvSpPr>
        <p:spPr>
          <a:xfrm>
            <a:off x="1499495" y="4280555"/>
            <a:ext cx="1781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해당 경로 외부 예매 이동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20A12C-7359-D817-1E1A-CACAA1A34372}"/>
              </a:ext>
            </a:extLst>
          </p:cNvPr>
          <p:cNvSpPr txBox="1"/>
          <p:nvPr/>
        </p:nvSpPr>
        <p:spPr>
          <a:xfrm>
            <a:off x="1499495" y="4849379"/>
            <a:ext cx="2835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/>
              <a:t>매진시</a:t>
            </a:r>
            <a:r>
              <a:rPr lang="ko-KR" altLang="en-US" sz="1100" b="1" dirty="0"/>
              <a:t xml:space="preserve"> 타 경로 탐색 </a:t>
            </a:r>
            <a:r>
              <a:rPr lang="en-US" altLang="ko-KR" sz="1100" b="1" dirty="0"/>
              <a:t xml:space="preserve">/ </a:t>
            </a:r>
            <a:r>
              <a:rPr lang="ko-KR" altLang="en-US" sz="1100" b="1" dirty="0"/>
              <a:t xml:space="preserve">무한 </a:t>
            </a:r>
            <a:r>
              <a:rPr lang="ko-KR" altLang="en-US" sz="1100" b="1" dirty="0" err="1"/>
              <a:t>새로고침</a:t>
            </a:r>
            <a:endParaRPr lang="ko-KR" altLang="en-US" sz="11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2DB922-5D39-F75C-BD28-315D3AFABB0D}"/>
              </a:ext>
            </a:extLst>
          </p:cNvPr>
          <p:cNvSpPr txBox="1"/>
          <p:nvPr/>
        </p:nvSpPr>
        <p:spPr>
          <a:xfrm>
            <a:off x="1500711" y="3101231"/>
            <a:ext cx="32088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(</a:t>
            </a:r>
            <a:r>
              <a:rPr lang="ko-KR" altLang="en-US" sz="1100" b="1" dirty="0"/>
              <a:t>서비스 단</a:t>
            </a:r>
            <a:r>
              <a:rPr lang="en-US" altLang="ko-KR" sz="1100" b="1" dirty="0"/>
              <a:t>)</a:t>
            </a:r>
            <a:r>
              <a:rPr lang="ko-KR" altLang="en-US" sz="1100" b="1" dirty="0"/>
              <a:t>정렬 기준 별 최적의 경로 리스트업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2583DFD-14A9-553F-DCA2-0433D5018693}"/>
              </a:ext>
            </a:extLst>
          </p:cNvPr>
          <p:cNvSpPr/>
          <p:nvPr/>
        </p:nvSpPr>
        <p:spPr>
          <a:xfrm>
            <a:off x="920861" y="2039477"/>
            <a:ext cx="3686623" cy="3628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9F44ADC-80E8-E9A7-C7D6-5D159D84D2FC}"/>
              </a:ext>
            </a:extLst>
          </p:cNvPr>
          <p:cNvSpPr/>
          <p:nvPr/>
        </p:nvSpPr>
        <p:spPr>
          <a:xfrm>
            <a:off x="4939794" y="2030129"/>
            <a:ext cx="6311265" cy="13175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E58C63-8EC1-07F4-B791-6B7355A8BE5A}"/>
              </a:ext>
            </a:extLst>
          </p:cNvPr>
          <p:cNvSpPr txBox="1"/>
          <p:nvPr/>
        </p:nvSpPr>
        <p:spPr>
          <a:xfrm>
            <a:off x="5179810" y="2173726"/>
            <a:ext cx="5995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en-US" altLang="ko-KR" sz="1400" dirty="0">
                <a:solidFill>
                  <a:srgbClr val="FFC000"/>
                </a:solidFill>
              </a:rPr>
              <a:t xml:space="preserve">  2</a:t>
            </a:r>
            <a:r>
              <a:rPr lang="ko-KR" altLang="en-US" sz="1400" dirty="0"/>
              <a:t>번</a:t>
            </a:r>
            <a:r>
              <a:rPr lang="ko-KR" altLang="en-US" sz="1400" dirty="0">
                <a:solidFill>
                  <a:srgbClr val="FFC000"/>
                </a:solidFill>
              </a:rPr>
              <a:t xml:space="preserve"> </a:t>
            </a:r>
            <a:r>
              <a:rPr lang="ko-KR" altLang="en-US" sz="1400" dirty="0"/>
              <a:t xml:space="preserve">최적의 경로 산출 시 매진 여부 미포함 </a:t>
            </a:r>
            <a:r>
              <a:rPr lang="en-US" altLang="ko-KR" sz="1400" dirty="0"/>
              <a:t xml:space="preserve">&gt;&gt; </a:t>
            </a:r>
            <a:r>
              <a:rPr lang="en-US" altLang="ko-KR" sz="1400" dirty="0">
                <a:solidFill>
                  <a:srgbClr val="FB3A05"/>
                </a:solidFill>
              </a:rPr>
              <a:t>5</a:t>
            </a:r>
            <a:r>
              <a:rPr lang="ko-KR" altLang="en-US" sz="1400" dirty="0"/>
              <a:t>번과 같은 상황발생</a:t>
            </a:r>
            <a:endParaRPr lang="en-US" altLang="ko-KR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D1D224-70FD-3F01-BCDC-0C42E006DF47}"/>
              </a:ext>
            </a:extLst>
          </p:cNvPr>
          <p:cNvSpPr txBox="1"/>
          <p:nvPr/>
        </p:nvSpPr>
        <p:spPr>
          <a:xfrm>
            <a:off x="4837760" y="1761972"/>
            <a:ext cx="9526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문제 인식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FECFF7-20DC-E34F-F59C-016AC5FF6613}"/>
              </a:ext>
            </a:extLst>
          </p:cNvPr>
          <p:cNvSpPr txBox="1"/>
          <p:nvPr/>
        </p:nvSpPr>
        <p:spPr>
          <a:xfrm>
            <a:off x="5179810" y="2567952"/>
            <a:ext cx="5995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ko-KR" altLang="en-US" sz="1400" dirty="0"/>
              <a:t xml:space="preserve">  </a:t>
            </a:r>
            <a:r>
              <a:rPr lang="ko-KR" altLang="en-US" sz="1400" dirty="0" err="1"/>
              <a:t>취소표</a:t>
            </a:r>
            <a:r>
              <a:rPr lang="ko-KR" altLang="en-US" sz="1400" dirty="0"/>
              <a:t xml:space="preserve"> 획득을 위한 수동적 </a:t>
            </a:r>
            <a:r>
              <a:rPr lang="ko-KR" altLang="en-US" sz="1400" dirty="0" err="1"/>
              <a:t>새로고침</a:t>
            </a:r>
            <a:r>
              <a:rPr lang="ko-KR" altLang="en-US" sz="1400" dirty="0"/>
              <a:t xml:space="preserve"> 반복  </a:t>
            </a:r>
            <a:endParaRPr lang="en-US" altLang="ko-KR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33B8B5-AB65-95C9-6560-D7AAEB445CAB}"/>
              </a:ext>
            </a:extLst>
          </p:cNvPr>
          <p:cNvSpPr txBox="1"/>
          <p:nvPr/>
        </p:nvSpPr>
        <p:spPr>
          <a:xfrm>
            <a:off x="5183503" y="2962578"/>
            <a:ext cx="5995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ko-KR" altLang="en-US" sz="1400" dirty="0"/>
              <a:t xml:space="preserve">  일련의 과정 복잡도 높음 </a:t>
            </a:r>
            <a:r>
              <a:rPr lang="en-US" altLang="ko-KR" sz="1400" dirty="0"/>
              <a:t xml:space="preserve">&gt;&gt; </a:t>
            </a:r>
            <a:r>
              <a:rPr lang="ko-KR" altLang="en-US" sz="1400" dirty="0"/>
              <a:t>특정 연령대에게 취약</a:t>
            </a:r>
            <a:endParaRPr lang="en-US" altLang="ko-KR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3A323F-E6B1-6769-7267-05F866FD5EC0}"/>
              </a:ext>
            </a:extLst>
          </p:cNvPr>
          <p:cNvSpPr txBox="1"/>
          <p:nvPr/>
        </p:nvSpPr>
        <p:spPr>
          <a:xfrm>
            <a:off x="4996754" y="3878280"/>
            <a:ext cx="64403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ea typeface="+mn-lt"/>
                <a:cs typeface="+mn-lt"/>
              </a:rPr>
              <a:t>대중교통을 사용하는 모든 사람</a:t>
            </a:r>
            <a:r>
              <a:rPr lang="en-US" altLang="ko-KR" sz="1200" dirty="0">
                <a:ea typeface="+mn-lt"/>
                <a:cs typeface="+mn-lt"/>
              </a:rPr>
              <a:t xml:space="preserve">, </a:t>
            </a:r>
            <a:r>
              <a:rPr lang="ko-KR" altLang="en-US" sz="1200" dirty="0">
                <a:ea typeface="+mn-lt"/>
                <a:cs typeface="+mn-lt"/>
              </a:rPr>
              <a:t>특히 기존 서비스 접근성이 낮은 노년층</a:t>
            </a:r>
            <a:br>
              <a:rPr lang="en-US" altLang="ko-KR" sz="1200" dirty="0">
                <a:ea typeface="+mn-lt"/>
                <a:cs typeface="+mn-lt"/>
              </a:rPr>
            </a:br>
            <a:r>
              <a:rPr lang="en-US" altLang="ko-KR" sz="1200" dirty="0">
                <a:ea typeface="+mn-lt"/>
                <a:cs typeface="+mn-lt"/>
              </a:rPr>
              <a:t xml:space="preserve"> &gt;&gt;</a:t>
            </a:r>
            <a:r>
              <a:rPr lang="ko-KR" altLang="en-US" sz="1200" dirty="0">
                <a:ea typeface="+mn-lt"/>
                <a:cs typeface="+mn-lt"/>
              </a:rPr>
              <a:t xml:space="preserve"> </a:t>
            </a:r>
            <a:r>
              <a:rPr lang="ko-KR" altLang="ko-KR" sz="1200" dirty="0"/>
              <a:t>IT 고도화에 따른 대중교통 예매 서비스 양극화 해소</a:t>
            </a:r>
            <a:endParaRPr lang="en-US" altLang="ko-KR" sz="1200" dirty="0">
              <a:ea typeface="+mn-lt"/>
              <a:cs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7893C3-EFDA-91F2-BB35-C1C4A5C16E00}"/>
              </a:ext>
            </a:extLst>
          </p:cNvPr>
          <p:cNvSpPr txBox="1"/>
          <p:nvPr/>
        </p:nvSpPr>
        <p:spPr>
          <a:xfrm>
            <a:off x="5039843" y="4951982"/>
            <a:ext cx="6211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>
                <a:ea typeface="+mn-lt"/>
                <a:cs typeface="+mn-lt"/>
              </a:rPr>
              <a:t xml:space="preserve">최적의 경로 산출을 위한 매진 여부 파악과 예매 결제 직전까지의 자동화 시스템 및 자동 </a:t>
            </a:r>
            <a:r>
              <a:rPr lang="ko-KR" altLang="en-US" sz="1200" dirty="0" err="1">
                <a:ea typeface="+mn-lt"/>
                <a:cs typeface="+mn-lt"/>
              </a:rPr>
              <a:t>취소표</a:t>
            </a:r>
            <a:r>
              <a:rPr lang="ko-KR" altLang="en-US" sz="1200" dirty="0">
                <a:ea typeface="+mn-lt"/>
                <a:cs typeface="+mn-lt"/>
              </a:rPr>
              <a:t xml:space="preserve"> 획득과 같은 시스템들의 유기적인 연결과 구성을 하드코딩으로만 구현하는 것은 한계가 있음 따라서 </a:t>
            </a:r>
            <a:r>
              <a:rPr lang="en-US" altLang="ko-KR" sz="1200" dirty="0">
                <a:ea typeface="+mn-lt"/>
                <a:cs typeface="+mn-lt"/>
              </a:rPr>
              <a:t>AI Agent</a:t>
            </a:r>
            <a:r>
              <a:rPr lang="ko-KR" altLang="en-US" sz="1200" dirty="0">
                <a:ea typeface="+mn-lt"/>
                <a:cs typeface="+mn-lt"/>
              </a:rPr>
              <a:t>의 사용이 필수적</a:t>
            </a:r>
            <a:r>
              <a:rPr lang="en-US" altLang="ko-KR" sz="1200" dirty="0">
                <a:ea typeface="+mn-lt"/>
                <a:cs typeface="+mn-lt"/>
              </a:rPr>
              <a:t xml:space="preserve">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D748EA3-46EB-CB1F-B7CB-F9A68153E93F}"/>
              </a:ext>
            </a:extLst>
          </p:cNvPr>
          <p:cNvSpPr/>
          <p:nvPr/>
        </p:nvSpPr>
        <p:spPr>
          <a:xfrm>
            <a:off x="4939794" y="3789024"/>
            <a:ext cx="6321501" cy="633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8ADC2C-7EFF-8A95-17C0-ADEB11E6A82B}"/>
              </a:ext>
            </a:extLst>
          </p:cNvPr>
          <p:cNvSpPr txBox="1"/>
          <p:nvPr/>
        </p:nvSpPr>
        <p:spPr>
          <a:xfrm>
            <a:off x="4870792" y="3507377"/>
            <a:ext cx="5975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대상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59E010E-72D3-F325-38DB-C68086EFCDE0}"/>
              </a:ext>
            </a:extLst>
          </p:cNvPr>
          <p:cNvSpPr/>
          <p:nvPr/>
        </p:nvSpPr>
        <p:spPr>
          <a:xfrm>
            <a:off x="4939795" y="4835598"/>
            <a:ext cx="6321500" cy="83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12CCAF-7782-974B-4836-9ED3040AD7D0}"/>
              </a:ext>
            </a:extLst>
          </p:cNvPr>
          <p:cNvSpPr txBox="1"/>
          <p:nvPr/>
        </p:nvSpPr>
        <p:spPr>
          <a:xfrm>
            <a:off x="4846996" y="4567887"/>
            <a:ext cx="19965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b="1" dirty="0">
                <a:ea typeface="+mn-lt"/>
                <a:cs typeface="+mn-lt"/>
              </a:rPr>
              <a:t xml:space="preserve">AI Agent </a:t>
            </a:r>
            <a:r>
              <a:rPr lang="ko-KR" altLang="en-US" sz="1200" b="1" dirty="0">
                <a:ea typeface="+mn-lt"/>
                <a:cs typeface="+mn-lt"/>
              </a:rPr>
              <a:t xml:space="preserve">기반 </a:t>
            </a:r>
            <a:r>
              <a:rPr lang="en-US" altLang="ko-KR" sz="1200" b="1" dirty="0">
                <a:ea typeface="+mn-lt"/>
                <a:cs typeface="+mn-lt"/>
              </a:rPr>
              <a:t xml:space="preserve">SW </a:t>
            </a:r>
            <a:r>
              <a:rPr lang="ko-KR" altLang="en-US" sz="1200" b="1" dirty="0">
                <a:ea typeface="+mn-lt"/>
                <a:cs typeface="+mn-lt"/>
              </a:rPr>
              <a:t xml:space="preserve">필요성 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619392-0EB5-2EFD-913D-8578C7E4230C}"/>
              </a:ext>
            </a:extLst>
          </p:cNvPr>
          <p:cNvSpPr txBox="1"/>
          <p:nvPr/>
        </p:nvSpPr>
        <p:spPr>
          <a:xfrm>
            <a:off x="2565589" y="2130480"/>
            <a:ext cx="39914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b="1" dirty="0">
                <a:ea typeface="+mn-lt"/>
                <a:cs typeface="+mn-lt"/>
              </a:rPr>
              <a:t>EX</a:t>
            </a:r>
            <a:r>
              <a:rPr lang="ko-KR" altLang="en-US" sz="1200" b="1" dirty="0">
                <a:ea typeface="+mn-lt"/>
                <a:cs typeface="+mn-lt"/>
              </a:rPr>
              <a:t xml:space="preserve"> </a:t>
            </a:r>
            <a:r>
              <a:rPr lang="en-US" altLang="ko-KR" sz="1200" b="1" dirty="0">
                <a:ea typeface="+mn-lt"/>
                <a:cs typeface="+mn-lt"/>
              </a:rPr>
              <a:t>:</a:t>
            </a:r>
            <a:r>
              <a:rPr lang="ko-KR" altLang="en-US" sz="1200" b="1" dirty="0">
                <a:ea typeface="+mn-lt"/>
                <a:cs typeface="+mn-lt"/>
              </a:rPr>
              <a:t xml:space="preserve"> </a:t>
            </a:r>
            <a:r>
              <a:rPr lang="ko-KR" altLang="en-US" sz="1200" b="1" dirty="0" err="1">
                <a:ea typeface="+mn-lt"/>
                <a:cs typeface="+mn-lt"/>
              </a:rPr>
              <a:t>티머니</a:t>
            </a:r>
            <a:r>
              <a:rPr lang="ko-KR" altLang="en-US" sz="1200" b="1" dirty="0">
                <a:ea typeface="+mn-lt"/>
                <a:cs typeface="+mn-lt"/>
              </a:rPr>
              <a:t xml:space="preserve"> 고</a:t>
            </a:r>
            <a:r>
              <a:rPr lang="en-US" altLang="ko-KR" sz="1200" b="1" dirty="0">
                <a:ea typeface="+mn-lt"/>
                <a:cs typeface="+mn-lt"/>
              </a:rPr>
              <a:t xml:space="preserve">, </a:t>
            </a:r>
            <a:r>
              <a:rPr lang="ko-KR" altLang="en-US" sz="1200" b="1" dirty="0">
                <a:ea typeface="+mn-lt"/>
                <a:cs typeface="+mn-lt"/>
              </a:rPr>
              <a:t>네이버 지도</a:t>
            </a:r>
            <a:endParaRPr lang="ko-KR" sz="1200" b="1" dirty="0"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사각형: 둥근 모서리 980">
            <a:extLst>
              <a:ext uri="{FF2B5EF4-FFF2-40B4-BE49-F238E27FC236}">
                <a16:creationId xmlns:a16="http://schemas.microsoft.com/office/drawing/2014/main" id="{167DD027-4F48-A6AC-98AE-09100921300B}"/>
              </a:ext>
            </a:extLst>
          </p:cNvPr>
          <p:cNvSpPr/>
          <p:nvPr/>
        </p:nvSpPr>
        <p:spPr>
          <a:xfrm>
            <a:off x="7435272" y="2924537"/>
            <a:ext cx="2251674" cy="2829048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534B2DAE-AA05-C38C-6479-A7E483A7DEAA}"/>
              </a:ext>
            </a:extLst>
          </p:cNvPr>
          <p:cNvSpPr/>
          <p:nvPr/>
        </p:nvSpPr>
        <p:spPr>
          <a:xfrm>
            <a:off x="939333" y="1701532"/>
            <a:ext cx="1656086" cy="1656086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2" y="1189703"/>
            <a:ext cx="941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+mj-ea"/>
                <a:ea typeface="+mj-ea"/>
                <a:cs typeface="+mj-ea"/>
              </a:rPr>
              <a:t xml:space="preserve">AI Agent </a:t>
            </a:r>
            <a:r>
              <a:rPr dirty="0" err="1">
                <a:latin typeface="+mj-ea"/>
                <a:ea typeface="+mj-ea"/>
                <a:cs typeface="+mj-ea"/>
              </a:rPr>
              <a:t>기능</a:t>
            </a:r>
            <a:r>
              <a:rPr dirty="0">
                <a:latin typeface="+mj-ea"/>
                <a:ea typeface="+mj-ea"/>
                <a:cs typeface="+mj-ea"/>
              </a:rPr>
              <a:t xml:space="preserve"> 및 </a:t>
            </a:r>
            <a:r>
              <a:rPr dirty="0" err="1">
                <a:latin typeface="+mj-ea"/>
                <a:ea typeface="+mj-ea"/>
                <a:cs typeface="+mj-ea"/>
              </a:rPr>
              <a:t>구조</a:t>
            </a:r>
            <a:r>
              <a:rPr lang="en-US" dirty="0">
                <a:latin typeface="+mj-ea"/>
                <a:ea typeface="+mj-ea"/>
                <a:cs typeface="+mj-ea"/>
              </a:rPr>
              <a:t xml:space="preserve"> </a:t>
            </a:r>
            <a:r>
              <a:rPr lang="ko-KR" altLang="en-US" dirty="0">
                <a:latin typeface="+mj-ea"/>
                <a:ea typeface="+mj-ea"/>
                <a:cs typeface="+mj-ea"/>
              </a:rPr>
              <a:t>기획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617AB-8511-E030-7420-CD5A8AADA847}"/>
              </a:ext>
            </a:extLst>
          </p:cNvPr>
          <p:cNvSpPr txBox="1"/>
          <p:nvPr/>
        </p:nvSpPr>
        <p:spPr>
          <a:xfrm>
            <a:off x="1051805" y="2349375"/>
            <a:ext cx="1436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사용자 입력기반 필수 파라미터 추출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27018D0-2773-9A19-DCCF-C5179045020B}"/>
              </a:ext>
            </a:extLst>
          </p:cNvPr>
          <p:cNvCxnSpPr>
            <a:cxnSpLocks/>
          </p:cNvCxnSpPr>
          <p:nvPr/>
        </p:nvCxnSpPr>
        <p:spPr>
          <a:xfrm>
            <a:off x="2576947" y="2531650"/>
            <a:ext cx="4525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20D84F-FE86-B000-1C9A-BEA2E5BB7359}"/>
              </a:ext>
            </a:extLst>
          </p:cNvPr>
          <p:cNvSpPr/>
          <p:nvPr/>
        </p:nvSpPr>
        <p:spPr>
          <a:xfrm>
            <a:off x="3018906" y="2196486"/>
            <a:ext cx="1656086" cy="709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F2908-0ECA-D899-2BB0-4A9418122EEF}"/>
              </a:ext>
            </a:extLst>
          </p:cNvPr>
          <p:cNvSpPr txBox="1"/>
          <p:nvPr/>
        </p:nvSpPr>
        <p:spPr>
          <a:xfrm>
            <a:off x="3107163" y="2349375"/>
            <a:ext cx="14745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필수 파라미터 기반 경로 후보 산출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7CA13C-B5FB-A483-0806-F3054B753E52}"/>
              </a:ext>
            </a:extLst>
          </p:cNvPr>
          <p:cNvSpPr/>
          <p:nvPr/>
        </p:nvSpPr>
        <p:spPr>
          <a:xfrm>
            <a:off x="5162208" y="2196486"/>
            <a:ext cx="1656086" cy="709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CF73C-72E9-2EE9-0571-79CFEC17DFC3}"/>
              </a:ext>
            </a:extLst>
          </p:cNvPr>
          <p:cNvSpPr txBox="1"/>
          <p:nvPr/>
        </p:nvSpPr>
        <p:spPr>
          <a:xfrm>
            <a:off x="5250465" y="2349375"/>
            <a:ext cx="14745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경로별 매진 여부 조회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78D5ECC-4CF9-3971-D8A6-08B81D0B760F}"/>
              </a:ext>
            </a:extLst>
          </p:cNvPr>
          <p:cNvCxnSpPr>
            <a:cxnSpLocks/>
          </p:cNvCxnSpPr>
          <p:nvPr/>
        </p:nvCxnSpPr>
        <p:spPr>
          <a:xfrm>
            <a:off x="4609413" y="2528497"/>
            <a:ext cx="562951" cy="3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09B340CC-51D8-D320-41FC-EF303BF52536}"/>
              </a:ext>
            </a:extLst>
          </p:cNvPr>
          <p:cNvSpPr/>
          <p:nvPr/>
        </p:nvSpPr>
        <p:spPr>
          <a:xfrm>
            <a:off x="5129185" y="3540964"/>
            <a:ext cx="1656086" cy="1656086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E997F4-16E0-AD48-06D0-743702FD17D4}"/>
              </a:ext>
            </a:extLst>
          </p:cNvPr>
          <p:cNvSpPr txBox="1"/>
          <p:nvPr/>
        </p:nvSpPr>
        <p:spPr>
          <a:xfrm>
            <a:off x="5241657" y="4167107"/>
            <a:ext cx="1436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AI</a:t>
            </a:r>
            <a:r>
              <a:rPr lang="ko-KR" altLang="en-US" sz="1100" b="1" dirty="0">
                <a:solidFill>
                  <a:schemeClr val="bg1"/>
                </a:solidFill>
              </a:rPr>
              <a:t>를 통한 최적의 경로 산출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A7B4785-117E-62B5-6821-EAE0E1C08C9D}"/>
              </a:ext>
            </a:extLst>
          </p:cNvPr>
          <p:cNvCxnSpPr>
            <a:cxnSpLocks/>
          </p:cNvCxnSpPr>
          <p:nvPr/>
        </p:nvCxnSpPr>
        <p:spPr>
          <a:xfrm>
            <a:off x="5957229" y="2887593"/>
            <a:ext cx="0" cy="6446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A237C77-B7E9-D6EA-79E4-78F9CB057641}"/>
              </a:ext>
            </a:extLst>
          </p:cNvPr>
          <p:cNvSpPr/>
          <p:nvPr/>
        </p:nvSpPr>
        <p:spPr>
          <a:xfrm>
            <a:off x="7732913" y="3438645"/>
            <a:ext cx="1656086" cy="709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0F96D0-9BBD-779D-EB99-FCEB36109FCA}"/>
              </a:ext>
            </a:extLst>
          </p:cNvPr>
          <p:cNvSpPr txBox="1"/>
          <p:nvPr/>
        </p:nvSpPr>
        <p:spPr>
          <a:xfrm>
            <a:off x="7821170" y="3646950"/>
            <a:ext cx="14745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solidFill>
                  <a:schemeClr val="bg1"/>
                </a:solidFill>
              </a:rPr>
              <a:t>취소표</a:t>
            </a:r>
            <a:r>
              <a:rPr lang="ko-KR" altLang="en-US" sz="1100" b="1" dirty="0">
                <a:solidFill>
                  <a:schemeClr val="bg1"/>
                </a:solidFill>
              </a:rPr>
              <a:t xml:space="preserve"> 획득 시스템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CEBDA3F-5DD3-481E-AB41-F15451A4973C}"/>
              </a:ext>
            </a:extLst>
          </p:cNvPr>
          <p:cNvSpPr/>
          <p:nvPr/>
        </p:nvSpPr>
        <p:spPr>
          <a:xfrm>
            <a:off x="7732913" y="4638509"/>
            <a:ext cx="1656086" cy="709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8E2023-18E2-FA71-6D54-03DD6E675551}"/>
              </a:ext>
            </a:extLst>
          </p:cNvPr>
          <p:cNvSpPr txBox="1"/>
          <p:nvPr/>
        </p:nvSpPr>
        <p:spPr>
          <a:xfrm>
            <a:off x="7811221" y="4701744"/>
            <a:ext cx="147454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최적의 경로기반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실 예매 자동화 시스템 가동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F7D197-3AE1-8726-885F-051182B0E403}"/>
              </a:ext>
            </a:extLst>
          </p:cNvPr>
          <p:cNvSpPr txBox="1"/>
          <p:nvPr/>
        </p:nvSpPr>
        <p:spPr>
          <a:xfrm>
            <a:off x="6873529" y="3757645"/>
            <a:ext cx="666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매진</a:t>
            </a:r>
            <a:r>
              <a:rPr lang="en-US" altLang="ko-KR" sz="1100" b="1" dirty="0"/>
              <a:t>O</a:t>
            </a:r>
            <a:endParaRPr lang="ko-KR" altLang="en-US" sz="11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4BD745-68BD-4D67-F862-35B12F156C44}"/>
              </a:ext>
            </a:extLst>
          </p:cNvPr>
          <p:cNvSpPr txBox="1"/>
          <p:nvPr/>
        </p:nvSpPr>
        <p:spPr>
          <a:xfrm>
            <a:off x="6872815" y="4763493"/>
            <a:ext cx="666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매진</a:t>
            </a:r>
            <a:r>
              <a:rPr lang="en-US" altLang="ko-KR" sz="1100" b="1" dirty="0"/>
              <a:t>X</a:t>
            </a:r>
            <a:endParaRPr lang="ko-KR" altLang="en-US" sz="1100" b="1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DB6741F-C7A8-1C84-4707-DB375D396AD0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 flipV="1">
            <a:off x="6785271" y="3793435"/>
            <a:ext cx="947642" cy="5755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5B3B0A7-5499-6F4D-0709-3B86D40A1EA2}"/>
              </a:ext>
            </a:extLst>
          </p:cNvPr>
          <p:cNvCxnSpPr>
            <a:stCxn id="26" idx="3"/>
            <a:endCxn id="37" idx="1"/>
          </p:cNvCxnSpPr>
          <p:nvPr/>
        </p:nvCxnSpPr>
        <p:spPr>
          <a:xfrm>
            <a:off x="6785271" y="4369007"/>
            <a:ext cx="947642" cy="6242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AE0B27D4-6CE8-CF4E-6A30-E4DC52374831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>
            <a:off x="8560956" y="4148224"/>
            <a:ext cx="0" cy="490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07186D1-67BC-15E4-02AD-BD6CC0C4C62A}"/>
              </a:ext>
            </a:extLst>
          </p:cNvPr>
          <p:cNvSpPr txBox="1"/>
          <p:nvPr/>
        </p:nvSpPr>
        <p:spPr>
          <a:xfrm>
            <a:off x="8532587" y="4251745"/>
            <a:ext cx="666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획득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CBD1E5-C8C3-D6E5-64C4-CE2115797F2C}"/>
              </a:ext>
            </a:extLst>
          </p:cNvPr>
          <p:cNvSpPr/>
          <p:nvPr/>
        </p:nvSpPr>
        <p:spPr>
          <a:xfrm>
            <a:off x="9876918" y="4643303"/>
            <a:ext cx="1656086" cy="709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45A9C0-A289-D9E8-7AC5-61AB00314E86}"/>
              </a:ext>
            </a:extLst>
          </p:cNvPr>
          <p:cNvSpPr txBox="1"/>
          <p:nvPr/>
        </p:nvSpPr>
        <p:spPr>
          <a:xfrm>
            <a:off x="9955226" y="4706538"/>
            <a:ext cx="147454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 xml:space="preserve">결제 직전 사용자에게 </a:t>
            </a:r>
            <a:r>
              <a:rPr lang="ko-KR" altLang="en-US" sz="1100" b="1" dirty="0" err="1">
                <a:solidFill>
                  <a:schemeClr val="bg1"/>
                </a:solidFill>
              </a:rPr>
              <a:t>제어권</a:t>
            </a:r>
            <a:r>
              <a:rPr lang="ko-KR" altLang="en-US" sz="1100" b="1" dirty="0">
                <a:solidFill>
                  <a:schemeClr val="bg1"/>
                </a:solidFill>
              </a:rPr>
              <a:t xml:space="preserve"> 토스</a:t>
            </a:r>
          </a:p>
        </p:txBody>
      </p:sp>
      <p:cxnSp>
        <p:nvCxnSpPr>
          <p:cNvPr id="960" name="직선 화살표 연결선 959">
            <a:extLst>
              <a:ext uri="{FF2B5EF4-FFF2-40B4-BE49-F238E27FC236}">
                <a16:creationId xmlns:a16="http://schemas.microsoft.com/office/drawing/2014/main" id="{E37ECD77-A54D-B05E-5823-74BC5E0EB46C}"/>
              </a:ext>
            </a:extLst>
          </p:cNvPr>
          <p:cNvCxnSpPr>
            <a:cxnSpLocks/>
          </p:cNvCxnSpPr>
          <p:nvPr/>
        </p:nvCxnSpPr>
        <p:spPr>
          <a:xfrm>
            <a:off x="9307511" y="4998673"/>
            <a:ext cx="562951" cy="3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1" name="다이아몬드 960">
            <a:extLst>
              <a:ext uri="{FF2B5EF4-FFF2-40B4-BE49-F238E27FC236}">
                <a16:creationId xmlns:a16="http://schemas.microsoft.com/office/drawing/2014/main" id="{D8560F17-4D83-9FD7-03D0-C4D596A6A4DC}"/>
              </a:ext>
            </a:extLst>
          </p:cNvPr>
          <p:cNvSpPr/>
          <p:nvPr/>
        </p:nvSpPr>
        <p:spPr>
          <a:xfrm>
            <a:off x="9195570" y="1802693"/>
            <a:ext cx="261610" cy="261610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BADE094E-D34B-8004-2FA5-09808C04B2A5}"/>
              </a:ext>
            </a:extLst>
          </p:cNvPr>
          <p:cNvSpPr txBox="1"/>
          <p:nvPr/>
        </p:nvSpPr>
        <p:spPr>
          <a:xfrm>
            <a:off x="9417664" y="1792279"/>
            <a:ext cx="14415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92D050"/>
                </a:solidFill>
              </a:rPr>
              <a:t>AI</a:t>
            </a:r>
            <a:r>
              <a:rPr lang="ko-KR" altLang="en-US" sz="1100" b="1" dirty="0">
                <a:solidFill>
                  <a:srgbClr val="92D050"/>
                </a:solidFill>
              </a:rPr>
              <a:t>가 개입하는 부분</a:t>
            </a:r>
          </a:p>
        </p:txBody>
      </p:sp>
      <p:sp>
        <p:nvSpPr>
          <p:cNvPr id="963" name="사각형: 둥근 모서리 962">
            <a:extLst>
              <a:ext uri="{FF2B5EF4-FFF2-40B4-BE49-F238E27FC236}">
                <a16:creationId xmlns:a16="http://schemas.microsoft.com/office/drawing/2014/main" id="{A522C112-7846-D763-FE82-A7CC8D967D28}"/>
              </a:ext>
            </a:extLst>
          </p:cNvPr>
          <p:cNvSpPr/>
          <p:nvPr/>
        </p:nvSpPr>
        <p:spPr>
          <a:xfrm>
            <a:off x="1440873" y="2556206"/>
            <a:ext cx="648858" cy="159286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5" name="연결선: 구부러짐 964">
            <a:extLst>
              <a:ext uri="{FF2B5EF4-FFF2-40B4-BE49-F238E27FC236}">
                <a16:creationId xmlns:a16="http://schemas.microsoft.com/office/drawing/2014/main" id="{C105C5D4-DCD7-0F9C-FEAD-80810793A453}"/>
              </a:ext>
            </a:extLst>
          </p:cNvPr>
          <p:cNvCxnSpPr>
            <a:cxnSpLocks/>
          </p:cNvCxnSpPr>
          <p:nvPr/>
        </p:nvCxnSpPr>
        <p:spPr>
          <a:xfrm rot="5400000">
            <a:off x="941786" y="3035519"/>
            <a:ext cx="1129901" cy="527026"/>
          </a:xfrm>
          <a:prstGeom prst="curved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6" name="TextBox 965">
            <a:extLst>
              <a:ext uri="{FF2B5EF4-FFF2-40B4-BE49-F238E27FC236}">
                <a16:creationId xmlns:a16="http://schemas.microsoft.com/office/drawing/2014/main" id="{61427D1C-0AF2-FD99-58DE-B9A4668D72C2}"/>
              </a:ext>
            </a:extLst>
          </p:cNvPr>
          <p:cNvSpPr txBox="1"/>
          <p:nvPr/>
        </p:nvSpPr>
        <p:spPr>
          <a:xfrm>
            <a:off x="491613" y="3986337"/>
            <a:ext cx="34182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FF0000"/>
                </a:solidFill>
              </a:rPr>
              <a:t xml:space="preserve">필수 파라미터 </a:t>
            </a:r>
            <a:r>
              <a:rPr lang="en-US" altLang="ko-KR" sz="1100" b="1" dirty="0"/>
              <a:t xml:space="preserve">: </a:t>
            </a:r>
            <a:r>
              <a:rPr lang="ko-KR" altLang="en-US" sz="1100" b="1" dirty="0"/>
              <a:t>도착 일자</a:t>
            </a:r>
            <a:r>
              <a:rPr lang="en-US" altLang="ko-KR" sz="1100" b="1" dirty="0"/>
              <a:t xml:space="preserve">, </a:t>
            </a:r>
            <a:r>
              <a:rPr lang="ko-KR" altLang="en-US" sz="1100" b="1" dirty="0"/>
              <a:t>도착 시간</a:t>
            </a:r>
            <a:r>
              <a:rPr lang="en-US" altLang="ko-KR" sz="1100" b="1" dirty="0"/>
              <a:t xml:space="preserve">, </a:t>
            </a:r>
            <a:r>
              <a:rPr lang="ko-KR" altLang="en-US" sz="1100" b="1" dirty="0"/>
              <a:t>도착지</a:t>
            </a:r>
            <a:r>
              <a:rPr lang="en-US" altLang="ko-KR" sz="1100" b="1" dirty="0"/>
              <a:t xml:space="preserve">, </a:t>
            </a:r>
            <a:r>
              <a:rPr lang="ko-KR" altLang="en-US" sz="1100" b="1" dirty="0"/>
              <a:t>출발지가 현재 장소인지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 xml:space="preserve">이 경우 </a:t>
            </a:r>
            <a:r>
              <a:rPr lang="en-US" altLang="ko-KR" sz="1100" b="1" dirty="0"/>
              <a:t xml:space="preserve">GPS </a:t>
            </a:r>
            <a:r>
              <a:rPr lang="ko-KR" altLang="en-US" sz="1100" b="1" dirty="0"/>
              <a:t>기반</a:t>
            </a:r>
            <a:r>
              <a:rPr lang="en-US" altLang="ko-KR" sz="1100" b="1" dirty="0"/>
              <a:t xml:space="preserve">) </a:t>
            </a:r>
            <a:r>
              <a:rPr lang="ko-KR" altLang="en-US" sz="1100" b="1" dirty="0"/>
              <a:t>다른 장소인지 여부</a:t>
            </a:r>
            <a:r>
              <a:rPr lang="en-US" altLang="ko-KR" sz="1100" b="1" dirty="0"/>
              <a:t xml:space="preserve"> </a:t>
            </a:r>
            <a:endParaRPr lang="ko-KR" altLang="en-US" sz="1100" b="1" dirty="0"/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88049BF6-6BB0-210A-13A9-E6C0D5CB83D5}"/>
              </a:ext>
            </a:extLst>
          </p:cNvPr>
          <p:cNvSpPr txBox="1"/>
          <p:nvPr/>
        </p:nvSpPr>
        <p:spPr>
          <a:xfrm>
            <a:off x="1784984" y="3229907"/>
            <a:ext cx="2920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solidFill>
                  <a:srgbClr val="92D050"/>
                </a:solidFill>
              </a:rPr>
              <a:t>챗봇</a:t>
            </a:r>
            <a:r>
              <a:rPr lang="ko-KR" altLang="en-US" sz="1100" b="1" dirty="0">
                <a:solidFill>
                  <a:srgbClr val="92D050"/>
                </a:solidFill>
              </a:rPr>
              <a:t xml:space="preserve"> 및 대화 방식 </a:t>
            </a:r>
            <a:r>
              <a:rPr lang="ko-KR" altLang="en-US" sz="1100" b="1" dirty="0">
                <a:solidFill>
                  <a:srgbClr val="FF0000"/>
                </a:solidFill>
              </a:rPr>
              <a:t>필수 파라미터</a:t>
            </a:r>
            <a:r>
              <a:rPr lang="ko-KR" altLang="en-US" sz="1100" b="1" dirty="0">
                <a:solidFill>
                  <a:srgbClr val="92D050"/>
                </a:solidFill>
              </a:rPr>
              <a:t>를 유도</a:t>
            </a:r>
          </a:p>
        </p:txBody>
      </p:sp>
      <p:sp>
        <p:nvSpPr>
          <p:cNvPr id="982" name="TextBox 981">
            <a:extLst>
              <a:ext uri="{FF2B5EF4-FFF2-40B4-BE49-F238E27FC236}">
                <a16:creationId xmlns:a16="http://schemas.microsoft.com/office/drawing/2014/main" id="{2B3D6420-3A01-7ED5-95C6-208AFF9CAD33}"/>
              </a:ext>
            </a:extLst>
          </p:cNvPr>
          <p:cNvSpPr txBox="1"/>
          <p:nvPr/>
        </p:nvSpPr>
        <p:spPr>
          <a:xfrm>
            <a:off x="7894376" y="2670670"/>
            <a:ext cx="13082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사용자 선택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기대효과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7F2CB9-53B0-8F4D-6DDE-4FCC58305BE8}"/>
              </a:ext>
            </a:extLst>
          </p:cNvPr>
          <p:cNvSpPr/>
          <p:nvPr/>
        </p:nvSpPr>
        <p:spPr>
          <a:xfrm>
            <a:off x="968477" y="2277839"/>
            <a:ext cx="4822723" cy="83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BF814-0814-EA14-5888-CAD53AE546C6}"/>
              </a:ext>
            </a:extLst>
          </p:cNvPr>
          <p:cNvSpPr txBox="1"/>
          <p:nvPr/>
        </p:nvSpPr>
        <p:spPr>
          <a:xfrm>
            <a:off x="862209" y="1984376"/>
            <a:ext cx="23520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해당 서비스의 단점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63746-CF02-96E5-71E9-4ABAE1C96FA4}"/>
              </a:ext>
            </a:extLst>
          </p:cNvPr>
          <p:cNvSpPr txBox="1"/>
          <p:nvPr/>
        </p:nvSpPr>
        <p:spPr>
          <a:xfrm>
            <a:off x="1013465" y="2380720"/>
            <a:ext cx="4730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+mn-lt"/>
                <a:cs typeface="+mn-lt"/>
              </a:rPr>
              <a:t>반복 조회 자동화가 매크로로 오인될 수 있음</a:t>
            </a:r>
            <a:endParaRPr lang="en-US" altLang="ko-KR" sz="1200" dirty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+mn-lt"/>
                <a:cs typeface="+mn-lt"/>
              </a:rPr>
              <a:t xml:space="preserve">미사용자 대비 </a:t>
            </a:r>
            <a:r>
              <a:rPr lang="ko-KR" altLang="en-US" sz="1200" b="1" dirty="0" err="1">
                <a:ea typeface="+mn-lt"/>
                <a:cs typeface="+mn-lt"/>
              </a:rPr>
              <a:t>예매 기회 형평성</a:t>
            </a:r>
            <a:r>
              <a:rPr lang="ko-KR" altLang="en-US" sz="1200" dirty="0">
                <a:ea typeface="+mn-lt"/>
                <a:cs typeface="+mn-lt"/>
              </a:rPr>
              <a:t xml:space="preserve"> 우려가 제기될 수 있음</a:t>
            </a:r>
            <a:endParaRPr lang="en-US" altLang="ko-KR" sz="1200" dirty="0">
              <a:ea typeface="+mn-lt"/>
              <a:cs typeface="+mn-lt"/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4D92281C-5946-6E1B-463E-318861D0526A}"/>
              </a:ext>
            </a:extLst>
          </p:cNvPr>
          <p:cNvSpPr/>
          <p:nvPr/>
        </p:nvSpPr>
        <p:spPr>
          <a:xfrm rot="5400000">
            <a:off x="3146559" y="3321717"/>
            <a:ext cx="314036" cy="535709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39430052-9777-E5C3-E8BC-986A881AC1D9}"/>
              </a:ext>
            </a:extLst>
          </p:cNvPr>
          <p:cNvSpPr/>
          <p:nvPr/>
        </p:nvSpPr>
        <p:spPr>
          <a:xfrm rot="5400000">
            <a:off x="3146559" y="3586016"/>
            <a:ext cx="314036" cy="535709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83EB5-682B-B6C7-C169-41AFC6A400D7}"/>
              </a:ext>
            </a:extLst>
          </p:cNvPr>
          <p:cNvSpPr txBox="1"/>
          <p:nvPr/>
        </p:nvSpPr>
        <p:spPr>
          <a:xfrm>
            <a:off x="3663796" y="3517029"/>
            <a:ext cx="6218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+mn-lt"/>
                <a:cs typeface="+mn-lt"/>
              </a:rPr>
              <a:t>승화</a:t>
            </a:r>
            <a:endParaRPr lang="en-US" altLang="ko-KR" sz="1400" dirty="0">
              <a:ea typeface="+mn-lt"/>
              <a:cs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89E22-F383-D546-1E73-B77C2A3EF082}"/>
              </a:ext>
            </a:extLst>
          </p:cNvPr>
          <p:cNvSpPr txBox="1"/>
          <p:nvPr/>
        </p:nvSpPr>
        <p:spPr>
          <a:xfrm>
            <a:off x="862209" y="4406002"/>
            <a:ext cx="517589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dirty="0">
                <a:ea typeface="+mn-lt"/>
                <a:cs typeface="+mn-lt"/>
              </a:rPr>
              <a:t>기존 서비스 대비 편의성 대폭 증가</a:t>
            </a:r>
            <a:endParaRPr lang="en-US" altLang="ko-KR" sz="1400" b="1" dirty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400" b="1" dirty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dirty="0">
                <a:ea typeface="+mn-lt"/>
                <a:cs typeface="+mn-lt"/>
              </a:rPr>
              <a:t xml:space="preserve">사용률 증가 비례 </a:t>
            </a:r>
            <a:r>
              <a:rPr lang="en-US" altLang="ko-KR" sz="1400" b="1" dirty="0">
                <a:ea typeface="+mn-lt"/>
                <a:cs typeface="+mn-lt"/>
              </a:rPr>
              <a:t>IT</a:t>
            </a:r>
            <a:r>
              <a:rPr lang="ko-KR" altLang="en-US" sz="1400" b="1" dirty="0">
                <a:ea typeface="+mn-lt"/>
                <a:cs typeface="+mn-lt"/>
              </a:rPr>
              <a:t xml:space="preserve"> 취약 계층의 기술적 양극화 감소</a:t>
            </a:r>
            <a:endParaRPr lang="en-US" altLang="ko-KR" sz="1600" b="1" dirty="0">
              <a:ea typeface="+mn-lt"/>
              <a:cs typeface="+mn-lt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9457FDE-3D85-905E-238F-9C805664658B}"/>
              </a:ext>
            </a:extLst>
          </p:cNvPr>
          <p:cNvCxnSpPr>
            <a:cxnSpLocks/>
          </p:cNvCxnSpPr>
          <p:nvPr/>
        </p:nvCxnSpPr>
        <p:spPr>
          <a:xfrm>
            <a:off x="6363857" y="3961330"/>
            <a:ext cx="20689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D64ACC8-A847-EC36-9A65-0D04FB248518}"/>
              </a:ext>
            </a:extLst>
          </p:cNvPr>
          <p:cNvCxnSpPr>
            <a:cxnSpLocks/>
          </p:cNvCxnSpPr>
          <p:nvPr/>
        </p:nvCxnSpPr>
        <p:spPr>
          <a:xfrm flipV="1">
            <a:off x="6363857" y="1991678"/>
            <a:ext cx="0" cy="19696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원호 35">
            <a:extLst>
              <a:ext uri="{FF2B5EF4-FFF2-40B4-BE49-F238E27FC236}">
                <a16:creationId xmlns:a16="http://schemas.microsoft.com/office/drawing/2014/main" id="{C0F98CEF-CCC5-19A2-E515-AA0B8B88E850}"/>
              </a:ext>
            </a:extLst>
          </p:cNvPr>
          <p:cNvSpPr/>
          <p:nvPr/>
        </p:nvSpPr>
        <p:spPr>
          <a:xfrm rot="5400000">
            <a:off x="5005316" y="1011581"/>
            <a:ext cx="2955635" cy="2718673"/>
          </a:xfrm>
          <a:prstGeom prst="arc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4CD4C62F-4CEC-790E-754D-AB1934632730}"/>
              </a:ext>
            </a:extLst>
          </p:cNvPr>
          <p:cNvSpPr/>
          <p:nvPr/>
        </p:nvSpPr>
        <p:spPr>
          <a:xfrm rot="10800000">
            <a:off x="6836252" y="1106133"/>
            <a:ext cx="2955635" cy="2718673"/>
          </a:xfrm>
          <a:prstGeom prst="arc">
            <a:avLst>
              <a:gd name="adj1" fmla="val 16200000"/>
              <a:gd name="adj2" fmla="val 277595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1BD651-77AD-EC6A-D07A-F7C0DB2F022C}"/>
              </a:ext>
            </a:extLst>
          </p:cNvPr>
          <p:cNvSpPr txBox="1"/>
          <p:nvPr/>
        </p:nvSpPr>
        <p:spPr>
          <a:xfrm>
            <a:off x="7369575" y="2271352"/>
            <a:ext cx="225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92D050"/>
                </a:solidFill>
              </a:rPr>
              <a:t>본 서비스 사용률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8CFCDC-84EF-852C-2B4E-B1F701B1FA83}"/>
              </a:ext>
            </a:extLst>
          </p:cNvPr>
          <p:cNvSpPr txBox="1"/>
          <p:nvPr/>
        </p:nvSpPr>
        <p:spPr>
          <a:xfrm>
            <a:off x="8209837" y="3687079"/>
            <a:ext cx="3527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solidFill>
                  <a:srgbClr val="FF0000"/>
                </a:solidFill>
              </a:rPr>
              <a:t>길찾기</a:t>
            </a:r>
            <a:r>
              <a:rPr lang="ko-KR" altLang="en-US" sz="1100" b="1" dirty="0">
                <a:solidFill>
                  <a:srgbClr val="FF0000"/>
                </a:solidFill>
              </a:rPr>
              <a:t xml:space="preserve"> 및 예매 서비스 사용자의 기술적 양극화 정도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A5844D6-A250-DAC0-2CF1-94B605F3BB33}"/>
              </a:ext>
            </a:extLst>
          </p:cNvPr>
          <p:cNvSpPr/>
          <p:nvPr/>
        </p:nvSpPr>
        <p:spPr>
          <a:xfrm>
            <a:off x="6363857" y="4469463"/>
            <a:ext cx="5107707" cy="1270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0B7FBD-00BC-BDC3-A782-C9E161A7DB8C}"/>
              </a:ext>
            </a:extLst>
          </p:cNvPr>
          <p:cNvSpPr txBox="1"/>
          <p:nvPr/>
        </p:nvSpPr>
        <p:spPr>
          <a:xfrm>
            <a:off x="6222305" y="4178055"/>
            <a:ext cx="23520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궁극적 기대효과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C62421-F957-33CD-091E-F4FF248E4B57}"/>
              </a:ext>
            </a:extLst>
          </p:cNvPr>
          <p:cNvSpPr txBox="1"/>
          <p:nvPr/>
        </p:nvSpPr>
        <p:spPr>
          <a:xfrm>
            <a:off x="6329764" y="4688715"/>
            <a:ext cx="51758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ea typeface="+mn-lt"/>
                <a:cs typeface="+mn-lt"/>
              </a:rPr>
              <a:t>자동화 기능을 누구나 사용할 수 있도록 개방하면 특정 사용자만의 이점이 아닌 보편적 편의가 된다.</a:t>
            </a:r>
            <a:endParaRPr lang="en-US" altLang="ko-KR" sz="1200" dirty="0">
              <a:ea typeface="+mn-lt"/>
              <a:cs typeface="+mn-lt"/>
            </a:endParaRPr>
          </a:p>
          <a:p>
            <a:pPr algn="ctr"/>
            <a:r>
              <a:rPr lang="ko-KR" altLang="en-US" sz="1200" dirty="0">
                <a:ea typeface="+mn-lt"/>
                <a:cs typeface="+mn-lt"/>
              </a:rPr>
              <a:t>예매 성공이 IT 활용 능력이 아닌 예매 시점에 따라 결정되는 환경을 조성하여,</a:t>
            </a:r>
            <a:br>
              <a:rPr lang="en-US" altLang="ko-KR" sz="1200" dirty="0">
                <a:ea typeface="+mn-lt"/>
                <a:cs typeface="+mn-lt"/>
              </a:rPr>
            </a:br>
            <a:r>
              <a:rPr lang="ko-KR" altLang="en-US" sz="1200" dirty="0">
                <a:ea typeface="+mn-lt"/>
                <a:cs typeface="+mn-lt"/>
              </a:rPr>
              <a:t>좌석 예매의 접근성 격차 해소와 공정한 이용 환경 조성에 기여할 것으로 기대된다.</a:t>
            </a:r>
            <a:endParaRPr lang="en-US" altLang="ko-KR" sz="12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9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1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latin typeface="+mj-ea"/>
                <a:ea typeface="+mj-ea"/>
                <a:cs typeface="+mj-ea"/>
              </a:rPr>
              <a:t>최종</a:t>
            </a:r>
            <a:r>
              <a:rPr dirty="0">
                <a:latin typeface="+mj-ea"/>
                <a:ea typeface="+mj-ea"/>
                <a:cs typeface="+mj-ea"/>
              </a:rPr>
              <a:t xml:space="preserve"> </a:t>
            </a:r>
            <a:r>
              <a:rPr dirty="0" err="1">
                <a:latin typeface="+mj-ea"/>
                <a:ea typeface="+mj-ea"/>
                <a:cs typeface="+mj-ea"/>
              </a:rPr>
              <a:t>산출물</a:t>
            </a:r>
            <a:r>
              <a:rPr dirty="0">
                <a:latin typeface="+mj-ea"/>
                <a:ea typeface="+mj-ea"/>
                <a:cs typeface="+mj-ea"/>
              </a:rPr>
              <a:t xml:space="preserve"> </a:t>
            </a:r>
            <a:r>
              <a:rPr dirty="0" err="1">
                <a:latin typeface="+mj-ea"/>
                <a:ea typeface="+mj-ea"/>
                <a:cs typeface="+mj-ea"/>
              </a:rPr>
              <a:t>개요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B4C9C43D-C5AC-4315-9BD6-34E1DDE42CB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6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F5EC94EE-1C7F-561C-C59A-450C4A9320C6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6" name="Auto Slide Number">
            <a:extLst>
              <a:ext uri="{FF2B5EF4-FFF2-40B4-BE49-F238E27FC236}">
                <a16:creationId xmlns:a16="http://schemas.microsoft.com/office/drawing/2014/main" id="{0DB7B36D-7219-4029-A089-AA751E118A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71DA3D2-432C-4A35-8569-40A89E129DC0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7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6823F73D-1843-4510-B004-D680CD258543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lang="ko-KR" sz="10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1CB2396-1996-06BC-7328-F23F8A0ED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30" y="1677925"/>
            <a:ext cx="2711920" cy="41247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2635CE-6C1C-BF07-B404-DEBAC4C4D017}"/>
              </a:ext>
            </a:extLst>
          </p:cNvPr>
          <p:cNvSpPr txBox="1"/>
          <p:nvPr/>
        </p:nvSpPr>
        <p:spPr>
          <a:xfrm>
            <a:off x="1467395" y="5529797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산출물 예시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F685C9-0789-5059-0693-5F6205E79787}"/>
              </a:ext>
            </a:extLst>
          </p:cNvPr>
          <p:cNvSpPr txBox="1"/>
          <p:nvPr/>
        </p:nvSpPr>
        <p:spPr>
          <a:xfrm>
            <a:off x="3705589" y="2339504"/>
            <a:ext cx="64403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ea typeface="+mn-lt"/>
                <a:cs typeface="+mn-lt"/>
              </a:rPr>
              <a:t xml:space="preserve">기존의 불편하고 복잡한 </a:t>
            </a:r>
            <a:r>
              <a:rPr lang="ko-KR" altLang="en-US" sz="1200" dirty="0" err="1">
                <a:ea typeface="+mn-lt"/>
                <a:cs typeface="+mn-lt"/>
              </a:rPr>
              <a:t>길찾기</a:t>
            </a:r>
            <a:r>
              <a:rPr lang="en-US" altLang="ko-KR" sz="1200" dirty="0">
                <a:ea typeface="+mn-lt"/>
                <a:cs typeface="+mn-lt"/>
              </a:rPr>
              <a:t>&amp;</a:t>
            </a:r>
            <a:r>
              <a:rPr lang="ko-KR" altLang="en-US" sz="1200" dirty="0">
                <a:ea typeface="+mn-lt"/>
                <a:cs typeface="+mn-lt"/>
              </a:rPr>
              <a:t xml:space="preserve">예매 시스템의 대안으로 </a:t>
            </a:r>
            <a:r>
              <a:rPr lang="en-US" altLang="ko-KR" sz="1200" dirty="0">
                <a:ea typeface="+mn-lt"/>
                <a:cs typeface="+mn-lt"/>
              </a:rPr>
              <a:t xml:space="preserve">AI Agent </a:t>
            </a:r>
            <a:r>
              <a:rPr lang="ko-KR" altLang="en-US" sz="1200" dirty="0">
                <a:ea typeface="+mn-lt"/>
                <a:cs typeface="+mn-lt"/>
              </a:rPr>
              <a:t xml:space="preserve">기반 </a:t>
            </a:r>
            <a:r>
              <a:rPr lang="ko-KR" altLang="en-US" sz="1200" dirty="0" err="1">
                <a:ea typeface="+mn-lt"/>
                <a:cs typeface="+mn-lt"/>
              </a:rPr>
              <a:t>길찾기</a:t>
            </a:r>
            <a:r>
              <a:rPr lang="en-US" altLang="ko-KR" sz="1200" dirty="0">
                <a:ea typeface="+mn-lt"/>
                <a:cs typeface="+mn-lt"/>
              </a:rPr>
              <a:t>&amp;</a:t>
            </a:r>
            <a:r>
              <a:rPr lang="ko-KR" altLang="en-US" sz="1200" dirty="0">
                <a:ea typeface="+mn-lt"/>
                <a:cs typeface="+mn-lt"/>
              </a:rPr>
              <a:t>예매 원스톱 서비스를 개발하여 편의성과 차별 없는 접근성 제공을 목적으로 함</a:t>
            </a:r>
            <a:endParaRPr lang="en-US" altLang="ko-KR" sz="1200" dirty="0">
              <a:ea typeface="+mn-lt"/>
              <a:cs typeface="+mn-lt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367439-30F8-2B44-9A42-6D70CA84F8D1}"/>
              </a:ext>
            </a:extLst>
          </p:cNvPr>
          <p:cNvSpPr/>
          <p:nvPr/>
        </p:nvSpPr>
        <p:spPr>
          <a:xfrm>
            <a:off x="3322050" y="2253641"/>
            <a:ext cx="7207405" cy="633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84DB89-4CB8-E5EF-ADEB-F326F0C9DC75}"/>
              </a:ext>
            </a:extLst>
          </p:cNvPr>
          <p:cNvSpPr txBox="1"/>
          <p:nvPr/>
        </p:nvSpPr>
        <p:spPr>
          <a:xfrm>
            <a:off x="3253047" y="1971994"/>
            <a:ext cx="9772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b="1" dirty="0">
                <a:ea typeface="+mn-lt"/>
                <a:cs typeface="+mn-lt"/>
              </a:rPr>
              <a:t>SW</a:t>
            </a:r>
            <a:r>
              <a:rPr lang="ko-KR" altLang="en-US" sz="1200" b="1" dirty="0">
                <a:ea typeface="+mn-lt"/>
                <a:cs typeface="+mn-lt"/>
              </a:rPr>
              <a:t xml:space="preserve"> 목적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48E68D-E421-2525-DBA5-F8B3AE00800B}"/>
              </a:ext>
            </a:extLst>
          </p:cNvPr>
          <p:cNvSpPr txBox="1"/>
          <p:nvPr/>
        </p:nvSpPr>
        <p:spPr>
          <a:xfrm>
            <a:off x="3322050" y="3509442"/>
            <a:ext cx="72074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+mn-lt"/>
                <a:cs typeface="+mn-lt"/>
              </a:rPr>
              <a:t xml:space="preserve">경로 </a:t>
            </a:r>
            <a:r>
              <a:rPr lang="ko-KR" altLang="en-US" sz="1200" dirty="0" err="1">
                <a:ea typeface="+mn-lt"/>
                <a:cs typeface="+mn-lt"/>
              </a:rPr>
              <a:t>산출시</a:t>
            </a:r>
            <a:r>
              <a:rPr lang="ko-KR" altLang="en-US" sz="1200" dirty="0">
                <a:ea typeface="+mn-lt"/>
                <a:cs typeface="+mn-lt"/>
              </a:rPr>
              <a:t xml:space="preserve"> 매진 여부 미포함</a:t>
            </a:r>
            <a:r>
              <a:rPr lang="en-US" altLang="ko-KR" sz="1200" dirty="0">
                <a:ea typeface="+mn-lt"/>
                <a:cs typeface="+mn-lt"/>
              </a:rPr>
              <a:t xml:space="preserve"> &gt;&gt; </a:t>
            </a:r>
            <a:r>
              <a:rPr lang="ko-KR" altLang="en-US" sz="1200" dirty="0">
                <a:ea typeface="+mn-lt"/>
                <a:cs typeface="+mn-lt"/>
              </a:rPr>
              <a:t xml:space="preserve">경로별 매진 여부 확인 과정 필수 </a:t>
            </a:r>
            <a:r>
              <a:rPr lang="en-US" altLang="ko-KR" sz="1200" dirty="0">
                <a:ea typeface="+mn-lt"/>
                <a:cs typeface="+mn-lt"/>
              </a:rPr>
              <a:t xml:space="preserve">&gt;&gt; </a:t>
            </a:r>
            <a:r>
              <a:rPr lang="ko-KR" altLang="en-US" sz="1200" dirty="0">
                <a:ea typeface="+mn-lt"/>
                <a:cs typeface="+mn-lt"/>
              </a:rPr>
              <a:t>서비스 복잡도 상승</a:t>
            </a:r>
            <a:endParaRPr lang="en-US" altLang="ko-KR" sz="1200" dirty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+mn-lt"/>
                <a:cs typeface="+mn-lt"/>
              </a:rPr>
              <a:t xml:space="preserve">취소표를 </a:t>
            </a:r>
            <a:r>
              <a:rPr lang="ko-KR" altLang="en-US" sz="1200" dirty="0" err="1">
                <a:ea typeface="+mn-lt"/>
                <a:cs typeface="+mn-lt"/>
              </a:rPr>
              <a:t>얻기 위한</a:t>
            </a:r>
            <a:r>
              <a:rPr lang="ko-KR" altLang="en-US" sz="1200" dirty="0">
                <a:ea typeface="+mn-lt"/>
                <a:cs typeface="+mn-lt"/>
              </a:rPr>
              <a:t xml:space="preserve"> 무한 </a:t>
            </a:r>
            <a:r>
              <a:rPr lang="ko-KR" altLang="en-US" sz="1200" dirty="0" err="1">
                <a:ea typeface="+mn-lt"/>
                <a:cs typeface="+mn-lt"/>
              </a:rPr>
              <a:t>새로고침</a:t>
            </a:r>
            <a:r>
              <a:rPr lang="ko-KR" altLang="en-US" sz="1200" dirty="0">
                <a:ea typeface="+mn-lt"/>
                <a:cs typeface="+mn-lt"/>
              </a:rPr>
              <a:t xml:space="preserve"> 등 </a:t>
            </a:r>
            <a:r>
              <a:rPr lang="en-US" altLang="ko-KR" sz="1200" dirty="0">
                <a:ea typeface="+mn-lt"/>
                <a:cs typeface="+mn-lt"/>
              </a:rPr>
              <a:t xml:space="preserve">&gt;&gt; IT </a:t>
            </a:r>
            <a:r>
              <a:rPr lang="ko-KR" altLang="en-US" sz="1200" dirty="0">
                <a:ea typeface="+mn-lt"/>
                <a:cs typeface="+mn-lt"/>
              </a:rPr>
              <a:t xml:space="preserve">취약 계층에게 불리 </a:t>
            </a:r>
            <a:r>
              <a:rPr lang="en-US" altLang="ko-KR" sz="1200" dirty="0">
                <a:ea typeface="+mn-lt"/>
                <a:cs typeface="+mn-lt"/>
              </a:rPr>
              <a:t xml:space="preserve">&gt;&gt; </a:t>
            </a:r>
            <a:r>
              <a:rPr lang="ko-KR" altLang="en-US" sz="1200" dirty="0">
                <a:ea typeface="+mn-lt"/>
                <a:cs typeface="+mn-lt"/>
              </a:rPr>
              <a:t xml:space="preserve">예매 시스템의 </a:t>
            </a:r>
            <a:r>
              <a:rPr lang="en-US" altLang="ko-KR" sz="1200" dirty="0">
                <a:ea typeface="+mn-lt"/>
                <a:cs typeface="+mn-lt"/>
              </a:rPr>
              <a:t>IT</a:t>
            </a:r>
            <a:r>
              <a:rPr lang="ko-KR" altLang="en-US" sz="1200" dirty="0">
                <a:ea typeface="+mn-lt"/>
                <a:cs typeface="+mn-lt"/>
              </a:rPr>
              <a:t xml:space="preserve"> 양극화 발생</a:t>
            </a:r>
            <a:endParaRPr lang="en-US" altLang="ko-KR" sz="1200" dirty="0">
              <a:ea typeface="+mn-lt"/>
              <a:cs typeface="+mn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44BA07-BA9D-87FD-5AB0-CCD74F3B8E5F}"/>
              </a:ext>
            </a:extLst>
          </p:cNvPr>
          <p:cNvSpPr/>
          <p:nvPr/>
        </p:nvSpPr>
        <p:spPr>
          <a:xfrm>
            <a:off x="3322050" y="3393398"/>
            <a:ext cx="7207405" cy="633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4398C0-6C9C-E0B7-2935-C6C85ABE6FE6}"/>
              </a:ext>
            </a:extLst>
          </p:cNvPr>
          <p:cNvSpPr txBox="1"/>
          <p:nvPr/>
        </p:nvSpPr>
        <p:spPr>
          <a:xfrm>
            <a:off x="3253046" y="3111751"/>
            <a:ext cx="173458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기존 서비스의 한계</a:t>
            </a:r>
            <a:endParaRPr lang="en-US" altLang="ko-KR" sz="1200" b="1" dirty="0">
              <a:ea typeface="+mn-lt"/>
              <a:cs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555C13-E056-69EC-6CFF-7F8A0A601D73}"/>
              </a:ext>
            </a:extLst>
          </p:cNvPr>
          <p:cNvSpPr txBox="1"/>
          <p:nvPr/>
        </p:nvSpPr>
        <p:spPr>
          <a:xfrm>
            <a:off x="3322050" y="4649199"/>
            <a:ext cx="72074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ea typeface="+mn-lt"/>
                <a:cs typeface="+mn-lt"/>
              </a:rPr>
              <a:t xml:space="preserve">기존 </a:t>
            </a:r>
            <a:r>
              <a:rPr lang="ko-KR" altLang="en-US" sz="1200" dirty="0" err="1">
                <a:ea typeface="+mn-lt"/>
                <a:cs typeface="+mn-lt"/>
              </a:rPr>
              <a:t>길찾기</a:t>
            </a:r>
            <a:r>
              <a:rPr lang="en-US" altLang="ko-KR" sz="1200" dirty="0">
                <a:ea typeface="+mn-lt"/>
                <a:cs typeface="+mn-lt"/>
              </a:rPr>
              <a:t>&amp;</a:t>
            </a:r>
            <a:r>
              <a:rPr lang="ko-KR" altLang="en-US" sz="1200" dirty="0">
                <a:ea typeface="+mn-lt"/>
                <a:cs typeface="+mn-lt"/>
              </a:rPr>
              <a:t xml:space="preserve">예매 시스템의 한계를 해당 산출물이 </a:t>
            </a:r>
            <a:r>
              <a:rPr lang="ko-KR" altLang="en-US" sz="1200" dirty="0" err="1">
                <a:ea typeface="+mn-lt"/>
                <a:cs typeface="+mn-lt"/>
              </a:rPr>
              <a:t>돌파함으로써</a:t>
            </a:r>
            <a:r>
              <a:rPr lang="ko-KR" altLang="en-US" sz="1200" dirty="0">
                <a:ea typeface="+mn-lt"/>
                <a:cs typeface="+mn-lt"/>
              </a:rPr>
              <a:t xml:space="preserve"> 편의성을 높이고 사용자의 스트레스를 줄이며 시간 절약을 돕는 차원에서 높은 가치를 지님</a:t>
            </a:r>
            <a:br>
              <a:rPr lang="en-US" altLang="ko-KR" sz="1200" dirty="0">
                <a:ea typeface="+mn-lt"/>
                <a:cs typeface="+mn-lt"/>
              </a:rPr>
            </a:br>
            <a:r>
              <a:rPr lang="ko-KR" altLang="en-US" sz="1200" dirty="0">
                <a:ea typeface="+mn-lt"/>
                <a:cs typeface="+mn-lt"/>
              </a:rPr>
              <a:t xml:space="preserve"> </a:t>
            </a:r>
            <a:endParaRPr lang="en-US" altLang="ko-KR" sz="1200" dirty="0">
              <a:ea typeface="+mn-lt"/>
              <a:cs typeface="+mn-lt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60B2F1D-4F6D-0B72-AB2D-C2CFA9E31EF9}"/>
              </a:ext>
            </a:extLst>
          </p:cNvPr>
          <p:cNvSpPr/>
          <p:nvPr/>
        </p:nvSpPr>
        <p:spPr>
          <a:xfrm>
            <a:off x="3322050" y="4533155"/>
            <a:ext cx="7207405" cy="633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E7AFFF-A4C1-AA32-15ED-91446F53D05F}"/>
              </a:ext>
            </a:extLst>
          </p:cNvPr>
          <p:cNvSpPr txBox="1"/>
          <p:nvPr/>
        </p:nvSpPr>
        <p:spPr>
          <a:xfrm>
            <a:off x="3253046" y="4251508"/>
            <a:ext cx="173458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핵심 사용자 가치</a:t>
            </a:r>
            <a:endParaRPr lang="en-US" altLang="ko-KR" sz="12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0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2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5FF4459E-C0FB-47AF-9858-82F4C062AF14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>
            <a:spLocks noGrp="1"/>
          </p:cNvSpPr>
          <p:nvPr/>
        </p:nvSpPr>
        <p:spPr>
          <a:xfrm>
            <a:off x="939332" y="1189703"/>
            <a:ext cx="4861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+mj-ea"/>
                <a:ea typeface="+mj-ea"/>
                <a:cs typeface="+mj-ea"/>
              </a:rPr>
              <a:t xml:space="preserve">AI Agent </a:t>
            </a:r>
            <a:r>
              <a:rPr dirty="0" err="1">
                <a:latin typeface="+mj-ea"/>
                <a:ea typeface="+mj-ea"/>
                <a:cs typeface="+mj-ea"/>
              </a:rPr>
              <a:t>작동</a:t>
            </a:r>
            <a:r>
              <a:rPr dirty="0">
                <a:latin typeface="+mj-ea"/>
                <a:ea typeface="+mj-ea"/>
                <a:cs typeface="+mj-ea"/>
              </a:rPr>
              <a:t xml:space="preserve"> </a:t>
            </a:r>
            <a:r>
              <a:rPr dirty="0" err="1">
                <a:latin typeface="+mj-ea"/>
                <a:ea typeface="+mj-ea"/>
                <a:cs typeface="+mj-ea"/>
              </a:rPr>
              <a:t>구조</a:t>
            </a:r>
            <a:r>
              <a:rPr lang="en-US" dirty="0">
                <a:latin typeface="+mj-ea"/>
                <a:ea typeface="+mj-ea"/>
                <a:cs typeface="+mj-ea"/>
              </a:rPr>
              <a:t>(</a:t>
            </a:r>
            <a:r>
              <a:rPr lang="ko-KR" altLang="en-US" dirty="0">
                <a:latin typeface="+mj-ea"/>
                <a:ea typeface="+mj-ea"/>
                <a:cs typeface="+mj-ea"/>
              </a:rPr>
              <a:t>기술적 세부</a:t>
            </a:r>
            <a:r>
              <a:rPr lang="en-US" dirty="0">
                <a:latin typeface="+mj-ea"/>
                <a:ea typeface="+mj-ea"/>
                <a:cs typeface="+mj-ea"/>
              </a:rPr>
              <a:t>)</a:t>
            </a:r>
            <a:endParaRPr dirty="0">
              <a:latin typeface="+mj-ea"/>
              <a:ea typeface="+mj-ea"/>
              <a:cs typeface="+mj-ea"/>
            </a:endParaRPr>
          </a:p>
        </p:txBody>
      </p:sp>
      <p:pic>
        <p:nvPicPr>
          <p:cNvPr id="1017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A7C6DEDF-7F99-D861-5BA6-64A5BF99B3BE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7" name="Auto Slide Number">
            <a:extLst>
              <a:ext uri="{FF2B5EF4-FFF2-40B4-BE49-F238E27FC236}">
                <a16:creationId xmlns:a16="http://schemas.microsoft.com/office/drawing/2014/main" id="{BCE182EC-8ADC-4E10-B5B1-E64AF5DC35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31C7C2C-5E7C-4D07-AD31-90820A552FAF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8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BA80E9C-30AD-4A60-BD79-443F99FB659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147F2A-F367-715A-181D-455812CD1B4E}"/>
              </a:ext>
            </a:extLst>
          </p:cNvPr>
          <p:cNvSpPr txBox="1"/>
          <p:nvPr/>
        </p:nvSpPr>
        <p:spPr>
          <a:xfrm>
            <a:off x="968477" y="1911511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사용자 입력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9E89E3B-6F6F-19A0-FEB0-049837291D92}"/>
              </a:ext>
            </a:extLst>
          </p:cNvPr>
          <p:cNvCxnSpPr>
            <a:cxnSpLocks/>
          </p:cNvCxnSpPr>
          <p:nvPr/>
        </p:nvCxnSpPr>
        <p:spPr>
          <a:xfrm>
            <a:off x="1574801" y="2219288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1DD62E-B9BA-958A-A674-35E683B54918}"/>
              </a:ext>
            </a:extLst>
          </p:cNvPr>
          <p:cNvSpPr txBox="1"/>
          <p:nvPr/>
        </p:nvSpPr>
        <p:spPr>
          <a:xfrm>
            <a:off x="792985" y="2722828"/>
            <a:ext cx="1830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AI</a:t>
            </a:r>
            <a:r>
              <a:rPr lang="ko-KR" altLang="en-US" sz="1400" dirty="0"/>
              <a:t xml:space="preserve">의 자연어 </a:t>
            </a:r>
            <a:r>
              <a:rPr lang="ko-KR" altLang="en-US" sz="1400" dirty="0" err="1"/>
              <a:t>처리및</a:t>
            </a:r>
            <a:r>
              <a:rPr lang="ko-KR" altLang="en-US" sz="1400" dirty="0"/>
              <a:t xml:space="preserve"> 파라미터 추출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51450D0-6CE6-EF4F-9FF4-4802311448B0}"/>
              </a:ext>
            </a:extLst>
          </p:cNvPr>
          <p:cNvCxnSpPr>
            <a:cxnSpLocks/>
          </p:cNvCxnSpPr>
          <p:nvPr/>
        </p:nvCxnSpPr>
        <p:spPr>
          <a:xfrm>
            <a:off x="1574801" y="3246048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473440-CF04-CD22-8063-DF31D8A9857D}"/>
              </a:ext>
            </a:extLst>
          </p:cNvPr>
          <p:cNvSpPr txBox="1"/>
          <p:nvPr/>
        </p:nvSpPr>
        <p:spPr>
          <a:xfrm>
            <a:off x="792985" y="3799286"/>
            <a:ext cx="18301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 xml:space="preserve">파라미터 기반 오디세이 </a:t>
            </a:r>
            <a:r>
              <a:rPr lang="en-US" altLang="ko-KR" sz="1400" dirty="0"/>
              <a:t xml:space="preserve">API </a:t>
            </a:r>
            <a:r>
              <a:rPr lang="ko-KR" altLang="en-US" sz="1400" dirty="0"/>
              <a:t>이용</a:t>
            </a:r>
            <a:endParaRPr lang="en-US" altLang="ko-KR" sz="1400" dirty="0"/>
          </a:p>
          <a:p>
            <a:r>
              <a:rPr lang="ko-KR" altLang="en-US" sz="1400" dirty="0"/>
              <a:t>경로 후보군 추출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82AA3D-7528-8491-C39A-17205420FC6F}"/>
              </a:ext>
            </a:extLst>
          </p:cNvPr>
          <p:cNvCxnSpPr>
            <a:cxnSpLocks/>
          </p:cNvCxnSpPr>
          <p:nvPr/>
        </p:nvCxnSpPr>
        <p:spPr>
          <a:xfrm>
            <a:off x="1574801" y="4537950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CF3D9E-00A2-B495-9B68-0BDD1F9F2083}"/>
              </a:ext>
            </a:extLst>
          </p:cNvPr>
          <p:cNvSpPr txBox="1"/>
          <p:nvPr/>
        </p:nvSpPr>
        <p:spPr>
          <a:xfrm>
            <a:off x="792984" y="4977425"/>
            <a:ext cx="19594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코틀린</a:t>
            </a:r>
            <a:r>
              <a:rPr lang="ko-KR" altLang="en-US" sz="1400" dirty="0"/>
              <a:t xml:space="preserve"> </a:t>
            </a:r>
            <a:r>
              <a:rPr lang="ko-KR" altLang="ko-KR" sz="1400" dirty="0" err="1"/>
              <a:t>WebView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 xml:space="preserve"> 통한 경로 후보군의 실시간 매진여부 확인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4E3164F-298B-975B-A077-18CE120A9F57}"/>
              </a:ext>
            </a:extLst>
          </p:cNvPr>
          <p:cNvCxnSpPr>
            <a:cxnSpLocks/>
          </p:cNvCxnSpPr>
          <p:nvPr/>
        </p:nvCxnSpPr>
        <p:spPr>
          <a:xfrm rot="-5400000">
            <a:off x="2825040" y="5100422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DB709A-E65A-95ED-1385-ACB2D7B5F95A}"/>
              </a:ext>
            </a:extLst>
          </p:cNvPr>
          <p:cNvSpPr txBox="1"/>
          <p:nvPr/>
        </p:nvSpPr>
        <p:spPr>
          <a:xfrm>
            <a:off x="3125165" y="4977425"/>
            <a:ext cx="19594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 xml:space="preserve">AI </a:t>
            </a:r>
            <a:r>
              <a:rPr lang="ko-KR" altLang="en-US" sz="1400" dirty="0"/>
              <a:t xml:space="preserve">추론을 통한 경로 후보군 별 우선순위 선정 </a:t>
            </a:r>
            <a:r>
              <a:rPr lang="en-US" altLang="ko-KR" sz="1400" dirty="0"/>
              <a:t>(</a:t>
            </a:r>
            <a:r>
              <a:rPr lang="ko-KR" altLang="en-US" sz="1400" dirty="0"/>
              <a:t>소요시간</a:t>
            </a:r>
            <a:r>
              <a:rPr lang="en-US" altLang="ko-KR" sz="1400" dirty="0"/>
              <a:t xml:space="preserve">, </a:t>
            </a:r>
            <a:r>
              <a:rPr lang="ko-KR" altLang="en-US" sz="1400" dirty="0"/>
              <a:t>매진 여부</a:t>
            </a:r>
            <a:r>
              <a:rPr lang="en-US" altLang="ko-KR" sz="1400" dirty="0"/>
              <a:t xml:space="preserve">, </a:t>
            </a:r>
            <a:r>
              <a:rPr lang="ko-KR" altLang="en-US" sz="1400" dirty="0"/>
              <a:t>사용자 요구 도착시간과의 시간차 등을 고려하여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5EAAEE-70F2-32FC-7330-B78247C25024}"/>
              </a:ext>
            </a:extLst>
          </p:cNvPr>
          <p:cNvSpPr txBox="1"/>
          <p:nvPr/>
        </p:nvSpPr>
        <p:spPr>
          <a:xfrm>
            <a:off x="5404535" y="3361598"/>
            <a:ext cx="29879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사용자 선택이 매진인 경로인 경우</a:t>
            </a:r>
            <a:endParaRPr lang="en-US" altLang="ko-KR" sz="1400" dirty="0"/>
          </a:p>
          <a:p>
            <a:r>
              <a:rPr lang="ko-KR" altLang="en-US" sz="1400" dirty="0" err="1"/>
              <a:t>코틀린</a:t>
            </a:r>
            <a:r>
              <a:rPr lang="ko-KR" altLang="en-US" sz="1400" dirty="0"/>
              <a:t xml:space="preserve"> </a:t>
            </a:r>
            <a:r>
              <a:rPr lang="ko-KR" altLang="ko-KR" sz="1400" dirty="0" err="1"/>
              <a:t>WebView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 xml:space="preserve"> 통한</a:t>
            </a:r>
            <a:br>
              <a:rPr lang="en-US" altLang="ko-KR" sz="1400" dirty="0"/>
            </a:br>
            <a:r>
              <a:rPr lang="ko-KR" altLang="en-US" sz="1400" dirty="0"/>
              <a:t>랜덤 주기 기반 좌석 조회 자동화</a:t>
            </a:r>
            <a:br>
              <a:rPr lang="en-US" altLang="ko-KR" sz="1400" dirty="0"/>
            </a:br>
            <a:r>
              <a:rPr lang="ko-KR" altLang="en-US" sz="1400" dirty="0"/>
              <a:t>(서버 부하 최소화, 이용약관 준수 범위 내 동작)를 통해</a:t>
            </a:r>
            <a:br>
              <a:rPr lang="en-US" altLang="ko-KR" sz="1400" dirty="0"/>
            </a:br>
            <a:r>
              <a:rPr lang="ko-KR" altLang="en-US" sz="1400" dirty="0"/>
              <a:t>매진이 비활성화 되는지 여부 확인</a:t>
            </a:r>
            <a:br>
              <a:rPr lang="en-US" altLang="ko-KR" sz="1400" dirty="0"/>
            </a:br>
            <a:r>
              <a:rPr lang="ko-KR" altLang="en-US" sz="1400" dirty="0"/>
              <a:t xml:space="preserve">이후 비활성화되면 좌석 정보 </a:t>
            </a:r>
            <a:r>
              <a:rPr lang="ko-KR" altLang="en-US" sz="1400" dirty="0" err="1"/>
              <a:t>스크래핑</a:t>
            </a:r>
            <a:r>
              <a:rPr lang="ko-KR" altLang="en-US" sz="1400" dirty="0"/>
              <a:t xml:space="preserve"> 후 사용자에게 알람을 띄워 고지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A13AAAE-B0A3-9D66-2752-D6670F2BF8A5}"/>
              </a:ext>
            </a:extLst>
          </p:cNvPr>
          <p:cNvCxnSpPr>
            <a:cxnSpLocks/>
          </p:cNvCxnSpPr>
          <p:nvPr/>
        </p:nvCxnSpPr>
        <p:spPr>
          <a:xfrm rot="-8100000">
            <a:off x="5111058" y="4722377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5F88667-605F-BA8B-3B80-766A3E916BDD}"/>
              </a:ext>
            </a:extLst>
          </p:cNvPr>
          <p:cNvCxnSpPr>
            <a:cxnSpLocks/>
          </p:cNvCxnSpPr>
          <p:nvPr/>
        </p:nvCxnSpPr>
        <p:spPr>
          <a:xfrm rot="-2700000">
            <a:off x="5139864" y="5609156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2E15A53-F73B-52EE-431F-EBCFEC1E2070}"/>
              </a:ext>
            </a:extLst>
          </p:cNvPr>
          <p:cNvSpPr txBox="1"/>
          <p:nvPr/>
        </p:nvSpPr>
        <p:spPr>
          <a:xfrm>
            <a:off x="5404535" y="5408313"/>
            <a:ext cx="29879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사용자 선택이 매진이 아닌  경로인 경우</a:t>
            </a:r>
            <a:r>
              <a:rPr lang="en-US" altLang="ko-KR" sz="1400" dirty="0"/>
              <a:t xml:space="preserve"> </a:t>
            </a:r>
            <a:r>
              <a:rPr lang="ko-KR" altLang="en-US" sz="1400" dirty="0" err="1"/>
              <a:t>코틀린</a:t>
            </a:r>
            <a:r>
              <a:rPr lang="ko-KR" altLang="en-US" sz="1400" dirty="0"/>
              <a:t xml:space="preserve"> </a:t>
            </a:r>
            <a:r>
              <a:rPr lang="ko-KR" altLang="ko-KR" sz="1400" dirty="0" err="1"/>
              <a:t>Intent</a:t>
            </a:r>
            <a:r>
              <a:rPr lang="ko-KR" altLang="en-US" sz="1400" dirty="0" err="1"/>
              <a:t>를</a:t>
            </a:r>
            <a:r>
              <a:rPr lang="en-US" altLang="ko-KR" sz="1400" dirty="0"/>
              <a:t xml:space="preserve"> </a:t>
            </a:r>
            <a:r>
              <a:rPr lang="ko-KR" altLang="en-US" sz="1400" dirty="0"/>
              <a:t xml:space="preserve">통한 안드로이드 접근성 서비스 </a:t>
            </a:r>
            <a:r>
              <a:rPr lang="ko-KR" altLang="en-US" sz="1400" dirty="0" err="1"/>
              <a:t>제어를통해</a:t>
            </a:r>
            <a:r>
              <a:rPr lang="ko-KR" altLang="en-US" sz="1400" dirty="0"/>
              <a:t xml:space="preserve"> 결제</a:t>
            </a:r>
            <a:r>
              <a:rPr lang="en-US" altLang="ko-KR" sz="1400" dirty="0"/>
              <a:t xml:space="preserve"> </a:t>
            </a:r>
            <a:r>
              <a:rPr lang="ko-KR" altLang="en-US" sz="1400" dirty="0"/>
              <a:t>직전까지 운반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6C3BBC-D928-45B0-F931-2B0C2DCA9241}"/>
              </a:ext>
            </a:extLst>
          </p:cNvPr>
          <p:cNvSpPr txBox="1"/>
          <p:nvPr/>
        </p:nvSpPr>
        <p:spPr>
          <a:xfrm>
            <a:off x="8849684" y="5684184"/>
            <a:ext cx="298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결제 직전 접근성 서비스 해제</a:t>
            </a:r>
            <a:r>
              <a:rPr lang="en-US" altLang="ko-KR" sz="1400" dirty="0"/>
              <a:t xml:space="preserve"> </a:t>
            </a:r>
            <a:r>
              <a:rPr lang="ko-KR" altLang="en-US" sz="1400" dirty="0"/>
              <a:t xml:space="preserve">후 사용자에게 </a:t>
            </a:r>
            <a:r>
              <a:rPr lang="ko-KR" altLang="en-US" sz="1400" dirty="0" err="1"/>
              <a:t>제어권</a:t>
            </a:r>
            <a:r>
              <a:rPr lang="ko-KR" altLang="en-US" sz="1400" dirty="0"/>
              <a:t xml:space="preserve"> 넘김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16E07CF-564D-36C9-B407-BCD2172CE35C}"/>
              </a:ext>
            </a:extLst>
          </p:cNvPr>
          <p:cNvCxnSpPr>
            <a:cxnSpLocks/>
          </p:cNvCxnSpPr>
          <p:nvPr/>
        </p:nvCxnSpPr>
        <p:spPr>
          <a:xfrm rot="-5400000">
            <a:off x="8480779" y="5707263"/>
            <a:ext cx="0" cy="403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9615C12-4A1D-1D18-74D3-D9665558CFB2}"/>
              </a:ext>
            </a:extLst>
          </p:cNvPr>
          <p:cNvCxnSpPr>
            <a:cxnSpLocks/>
          </p:cNvCxnSpPr>
          <p:nvPr/>
        </p:nvCxnSpPr>
        <p:spPr>
          <a:xfrm flipH="1">
            <a:off x="2433771" y="3649887"/>
            <a:ext cx="888279" cy="5455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EB0EBB2-70F2-8B4E-FECB-B1B24D5CAB29}"/>
              </a:ext>
            </a:extLst>
          </p:cNvPr>
          <p:cNvCxnSpPr>
            <a:cxnSpLocks/>
          </p:cNvCxnSpPr>
          <p:nvPr/>
        </p:nvCxnSpPr>
        <p:spPr>
          <a:xfrm flipH="1">
            <a:off x="2433771" y="3685523"/>
            <a:ext cx="888279" cy="12919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138C87F-076D-BFFA-E065-1A90BD1D6393}"/>
              </a:ext>
            </a:extLst>
          </p:cNvPr>
          <p:cNvSpPr txBox="1"/>
          <p:nvPr/>
        </p:nvSpPr>
        <p:spPr>
          <a:xfrm>
            <a:off x="2885690" y="3300788"/>
            <a:ext cx="160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둘다</a:t>
            </a:r>
            <a:r>
              <a:rPr lang="ko-KR" altLang="en-US" sz="1400" dirty="0"/>
              <a:t xml:space="preserve"> </a:t>
            </a:r>
            <a:r>
              <a:rPr lang="en-US" altLang="ko-KR" sz="1400" dirty="0"/>
              <a:t xml:space="preserve">JSON </a:t>
            </a:r>
            <a:r>
              <a:rPr lang="ko-KR" altLang="en-US" sz="1400" dirty="0"/>
              <a:t>형식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2A47A86-A9AC-68BE-825B-5B47D0875235}"/>
              </a:ext>
            </a:extLst>
          </p:cNvPr>
          <p:cNvCxnSpPr>
            <a:cxnSpLocks/>
          </p:cNvCxnSpPr>
          <p:nvPr/>
        </p:nvCxnSpPr>
        <p:spPr>
          <a:xfrm flipH="1">
            <a:off x="8268280" y="3940866"/>
            <a:ext cx="888279" cy="12919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A23491-CC68-C13B-C7E3-6FD344CB69A1}"/>
              </a:ext>
            </a:extLst>
          </p:cNvPr>
          <p:cNvSpPr txBox="1"/>
          <p:nvPr/>
        </p:nvSpPr>
        <p:spPr>
          <a:xfrm>
            <a:off x="9156559" y="2968570"/>
            <a:ext cx="1767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 xml:space="preserve">팝업과 같은 예외가 생기는 경우를 대비하여 </a:t>
            </a:r>
            <a:r>
              <a:rPr lang="ko-KR" altLang="ko-KR" sz="1400" dirty="0" err="1"/>
              <a:t>Vision</a:t>
            </a:r>
            <a:r>
              <a:rPr lang="ko-KR" altLang="ko-KR" sz="1400" dirty="0"/>
              <a:t xml:space="preserve"> AP</a:t>
            </a:r>
            <a:r>
              <a:rPr lang="en-US" altLang="ko-KR" sz="1400" dirty="0"/>
              <a:t xml:space="preserve">I </a:t>
            </a:r>
            <a:r>
              <a:rPr lang="ko-KR" altLang="en-US" sz="1400" dirty="0"/>
              <a:t>사용으로 변수 대처</a:t>
            </a: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1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3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핵심 기능 설명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8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8" name="Auto Slide Number">
            <a:extLst>
              <a:ext uri="{FF2B5EF4-FFF2-40B4-BE49-F238E27FC236}">
                <a16:creationId xmlns:a16="http://schemas.microsoft.com/office/drawing/2014/main" id="{C3806338-8667-43E4-9932-B370A293CB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876C266-6B0E-466B-A4D1-142268136602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9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3DD7086-28FB-44E2-AA91-6C7EB8293AB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9BE5D-A222-6378-BCB4-07D4D721317D}"/>
              </a:ext>
            </a:extLst>
          </p:cNvPr>
          <p:cNvSpPr txBox="1"/>
          <p:nvPr/>
        </p:nvSpPr>
        <p:spPr>
          <a:xfrm>
            <a:off x="1700018" y="1979251"/>
            <a:ext cx="9844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200" b="1" err="1">
                <a:ea typeface="+mn-lt"/>
                <a:cs typeface="+mn-lt"/>
              </a:rPr>
              <a:t>핵심</a:t>
            </a:r>
            <a:r>
              <a:rPr lang="en-US" altLang="ko-KR" sz="1200" b="1">
                <a:ea typeface="+mn-lt"/>
                <a:cs typeface="+mn-lt"/>
              </a:rPr>
              <a:t xml:space="preserve"> </a:t>
            </a:r>
            <a:r>
              <a:rPr lang="en-US" altLang="ko-KR" sz="1200" b="1" err="1">
                <a:ea typeface="+mn-lt"/>
                <a:cs typeface="+mn-lt"/>
              </a:rPr>
              <a:t>기능</a:t>
            </a:r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FF4664-7E52-D62E-6666-1E1FF17BD245}"/>
              </a:ext>
            </a:extLst>
          </p:cNvPr>
          <p:cNvGrpSpPr/>
          <p:nvPr/>
        </p:nvGrpSpPr>
        <p:grpSpPr>
          <a:xfrm>
            <a:off x="963479" y="2253641"/>
            <a:ext cx="2441896" cy="546307"/>
            <a:chOff x="963479" y="2253641"/>
            <a:chExt cx="2093554" cy="54630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3F01C18-F601-67E0-47BB-3D7A5EAC4CE0}"/>
                </a:ext>
              </a:extLst>
            </p:cNvPr>
            <p:cNvSpPr/>
            <p:nvPr/>
          </p:nvSpPr>
          <p:spPr>
            <a:xfrm>
              <a:off x="963479" y="2253641"/>
              <a:ext cx="2091120" cy="5463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5902B4-B25A-E238-7C0D-48C7EBEB4072}"/>
                </a:ext>
              </a:extLst>
            </p:cNvPr>
            <p:cNvSpPr txBox="1"/>
            <p:nvPr/>
          </p:nvSpPr>
          <p:spPr>
            <a:xfrm>
              <a:off x="963521" y="2387161"/>
              <a:ext cx="2093512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/>
                  <a:cs typeface="Arial"/>
                </a:rPr>
                <a:t>AI 대화형 입력 </a:t>
              </a:r>
              <a:endParaRPr lang="ko-KR" sz="1400">
                <a:ea typeface="맑은 고딕"/>
                <a:cs typeface="Arial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D334869-ABF6-659B-8F34-A946E8799306}"/>
              </a:ext>
            </a:extLst>
          </p:cNvPr>
          <p:cNvGrpSpPr/>
          <p:nvPr/>
        </p:nvGrpSpPr>
        <p:grpSpPr>
          <a:xfrm>
            <a:off x="963478" y="2950326"/>
            <a:ext cx="2441896" cy="546307"/>
            <a:chOff x="963479" y="2253641"/>
            <a:chExt cx="2093554" cy="546307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BF7DC22-B18B-6931-7A8D-BE28E8ADD5D2}"/>
                </a:ext>
              </a:extLst>
            </p:cNvPr>
            <p:cNvSpPr/>
            <p:nvPr/>
          </p:nvSpPr>
          <p:spPr>
            <a:xfrm>
              <a:off x="963479" y="2253641"/>
              <a:ext cx="2091120" cy="5463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EE9435-85F1-8B13-3741-50C1EA58C5A6}"/>
                </a:ext>
              </a:extLst>
            </p:cNvPr>
            <p:cNvSpPr txBox="1"/>
            <p:nvPr/>
          </p:nvSpPr>
          <p:spPr>
            <a:xfrm>
              <a:off x="963521" y="2387161"/>
              <a:ext cx="2093512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/>
                  <a:cs typeface="Arial"/>
                </a:rPr>
                <a:t>최적 경로 추천</a:t>
              </a:r>
              <a:endParaRPr lang="ko-KR" sz="1400">
                <a:ea typeface="맑은 고딕"/>
                <a:cs typeface="Arial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01F6661-F04E-1D27-7AF8-6B87CD9BF923}"/>
              </a:ext>
            </a:extLst>
          </p:cNvPr>
          <p:cNvGrpSpPr/>
          <p:nvPr/>
        </p:nvGrpSpPr>
        <p:grpSpPr>
          <a:xfrm>
            <a:off x="963477" y="3661525"/>
            <a:ext cx="2441896" cy="549019"/>
            <a:chOff x="963479" y="2253641"/>
            <a:chExt cx="2093554" cy="549019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7A36B44-462F-79EF-AA8A-FF6D6C54CF8B}"/>
                </a:ext>
              </a:extLst>
            </p:cNvPr>
            <p:cNvSpPr/>
            <p:nvPr/>
          </p:nvSpPr>
          <p:spPr>
            <a:xfrm>
              <a:off x="963479" y="2253641"/>
              <a:ext cx="2091120" cy="5463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59025C-AFD9-3CE1-9DA7-EAB430934468}"/>
                </a:ext>
              </a:extLst>
            </p:cNvPr>
            <p:cNvSpPr txBox="1"/>
            <p:nvPr/>
          </p:nvSpPr>
          <p:spPr>
            <a:xfrm>
              <a:off x="963521" y="2279440"/>
              <a:ext cx="209351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/>
                  <a:cs typeface="Arial"/>
                </a:rPr>
                <a:t>매진시 취소표 획득 자동화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073D1B9-5677-6CE1-DD29-C8D655581A4B}"/>
              </a:ext>
            </a:extLst>
          </p:cNvPr>
          <p:cNvGrpSpPr/>
          <p:nvPr/>
        </p:nvGrpSpPr>
        <p:grpSpPr>
          <a:xfrm>
            <a:off x="963476" y="4358210"/>
            <a:ext cx="2441896" cy="549019"/>
            <a:chOff x="963479" y="2253641"/>
            <a:chExt cx="2093554" cy="54901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8AE507C-3742-0F1B-C215-7792F9FE1D9B}"/>
                </a:ext>
              </a:extLst>
            </p:cNvPr>
            <p:cNvSpPr/>
            <p:nvPr/>
          </p:nvSpPr>
          <p:spPr>
            <a:xfrm>
              <a:off x="963479" y="2253641"/>
              <a:ext cx="2091120" cy="5463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309ECF-768F-91FE-24BA-41EF229813FB}"/>
                </a:ext>
              </a:extLst>
            </p:cNvPr>
            <p:cNvSpPr txBox="1"/>
            <p:nvPr/>
          </p:nvSpPr>
          <p:spPr>
            <a:xfrm>
              <a:off x="963521" y="2279440"/>
              <a:ext cx="209351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/>
                  <a:cs typeface="Arial"/>
                </a:rPr>
                <a:t>결제 직전까지 </a:t>
              </a:r>
              <a:endParaRPr lang="ko-KR"/>
            </a:p>
            <a:p>
              <a:pPr algn="ctr"/>
              <a:r>
                <a:rPr lang="ko-KR" altLang="en-US" sz="1400">
                  <a:ea typeface="맑은 고딕"/>
                  <a:cs typeface="Arial"/>
                </a:rPr>
                <a:t>자동 예매 시스템</a:t>
              </a:r>
              <a:endParaRPr lang="ko-KR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7EEC995-078A-CFF5-450D-5A46030C7D27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EFF39A79-FD88-EAD6-DEFE-A4C95827848F}"/>
              </a:ext>
            </a:extLst>
          </p:cNvPr>
          <p:cNvSpPr/>
          <p:nvPr/>
        </p:nvSpPr>
        <p:spPr>
          <a:xfrm>
            <a:off x="3950753" y="3397390"/>
            <a:ext cx="1196808" cy="7721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66F689-588B-C82C-1C61-B37828C9B74E}"/>
              </a:ext>
            </a:extLst>
          </p:cNvPr>
          <p:cNvSpPr txBox="1"/>
          <p:nvPr/>
        </p:nvSpPr>
        <p:spPr>
          <a:xfrm>
            <a:off x="6170417" y="1979250"/>
            <a:ext cx="11368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200" b="1" err="1">
                <a:ea typeface="맑은 고딕"/>
                <a:cs typeface="Arial"/>
              </a:rPr>
              <a:t>사용자</a:t>
            </a:r>
            <a:r>
              <a:rPr lang="en-US" altLang="ko-KR" sz="1200" b="1">
                <a:ea typeface="맑은 고딕"/>
                <a:cs typeface="Arial"/>
              </a:rPr>
              <a:t xml:space="preserve"> </a:t>
            </a:r>
            <a:r>
              <a:rPr lang="en-US" altLang="ko-KR" sz="1200" b="1" err="1">
                <a:ea typeface="맑은 고딕"/>
                <a:cs typeface="Arial"/>
              </a:rPr>
              <a:t>입력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D2370CA-B42A-0290-C70F-EE17CF966EB1}"/>
              </a:ext>
            </a:extLst>
          </p:cNvPr>
          <p:cNvGrpSpPr/>
          <p:nvPr/>
        </p:nvGrpSpPr>
        <p:grpSpPr>
          <a:xfrm>
            <a:off x="5520964" y="2253640"/>
            <a:ext cx="2441896" cy="546307"/>
            <a:chOff x="963479" y="2253641"/>
            <a:chExt cx="2093554" cy="54630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E67D197-78CE-B0D9-12B0-B084AAE53C9E}"/>
                </a:ext>
              </a:extLst>
            </p:cNvPr>
            <p:cNvSpPr/>
            <p:nvPr/>
          </p:nvSpPr>
          <p:spPr>
            <a:xfrm>
              <a:off x="963479" y="2253641"/>
              <a:ext cx="2091120" cy="5463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21E9AC-944A-EDF0-9D4B-D7749E662A33}"/>
                </a:ext>
              </a:extLst>
            </p:cNvPr>
            <p:cNvSpPr txBox="1"/>
            <p:nvPr/>
          </p:nvSpPr>
          <p:spPr>
            <a:xfrm>
              <a:off x="963521" y="2387161"/>
              <a:ext cx="2093512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/>
                  <a:cs typeface="Arial"/>
                </a:rPr>
                <a:t>목적지, 출발시간, 출발지</a:t>
              </a:r>
              <a:endParaRPr lang="ko-KR" sz="1400">
                <a:ea typeface="맑은 고딕"/>
                <a:cs typeface="Arial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C6AE945-85C4-6381-0532-DDE586963E48}"/>
              </a:ext>
            </a:extLst>
          </p:cNvPr>
          <p:cNvSpPr txBox="1"/>
          <p:nvPr/>
        </p:nvSpPr>
        <p:spPr>
          <a:xfrm>
            <a:off x="9174873" y="1979249"/>
            <a:ext cx="11368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200" b="1" err="1">
                <a:ea typeface="맑은 고딕"/>
                <a:cs typeface="Arial"/>
              </a:rPr>
              <a:t>결과</a:t>
            </a:r>
          </a:p>
        </p:txBody>
      </p:sp>
      <p:sp>
        <p:nvSpPr>
          <p:cNvPr id="50" name="result_box"/>
          <p:cNvSpPr/>
          <p:nvPr/>
        </p:nvSpPr>
        <p:spPr>
          <a:xfrm>
            <a:off x="8522357" y="2253640"/>
            <a:ext cx="2441896" cy="7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ea typeface="맑은 고딕"/>
                <a:cs typeface="Arial"/>
              </a:rPr>
              <a:t>매진 반영 최적 경로 확정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ea typeface="맑은 고딕"/>
                <a:cs typeface="Arial"/>
              </a:rPr>
              <a:t>결제 직전까지 자동 예매 진행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2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4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4260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latin typeface="+mj-ea"/>
                <a:ea typeface="+mj-ea"/>
                <a:cs typeface="+mj-ea"/>
              </a:rPr>
              <a:t>사용자</a:t>
            </a:r>
            <a:r>
              <a:rPr dirty="0">
                <a:latin typeface="+mj-ea"/>
                <a:ea typeface="+mj-ea"/>
                <a:cs typeface="+mj-ea"/>
              </a:rPr>
              <a:t xml:space="preserve"> </a:t>
            </a:r>
            <a:r>
              <a:rPr dirty="0" err="1">
                <a:latin typeface="+mj-ea"/>
                <a:ea typeface="+mj-ea"/>
                <a:cs typeface="+mj-ea"/>
              </a:rPr>
              <a:t>이용</a:t>
            </a:r>
            <a:r>
              <a:rPr dirty="0">
                <a:latin typeface="+mj-ea"/>
                <a:ea typeface="+mj-ea"/>
                <a:cs typeface="+mj-ea"/>
              </a:rPr>
              <a:t xml:space="preserve"> </a:t>
            </a:r>
            <a:r>
              <a:rPr dirty="0" err="1">
                <a:latin typeface="+mj-ea"/>
                <a:ea typeface="+mj-ea"/>
                <a:cs typeface="+mj-ea"/>
              </a:rPr>
              <a:t>흐름</a:t>
            </a:r>
            <a:r>
              <a:rPr lang="en-US" dirty="0">
                <a:latin typeface="+mj-ea"/>
                <a:ea typeface="+mj-ea"/>
                <a:cs typeface="+mj-ea"/>
              </a:rPr>
              <a:t>(</a:t>
            </a:r>
            <a:r>
              <a:rPr lang="ko-KR" altLang="en-US" dirty="0">
                <a:latin typeface="+mj-ea"/>
                <a:ea typeface="+mj-ea"/>
                <a:cs typeface="+mj-ea"/>
              </a:rPr>
              <a:t>사용자 기반 흐름</a:t>
            </a:r>
            <a:r>
              <a:rPr lang="en-US" dirty="0">
                <a:latin typeface="+mj-ea"/>
                <a:ea typeface="+mj-ea"/>
                <a:cs typeface="+mj-ea"/>
              </a:rPr>
              <a:t>)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1" name="content_201"/>
          <p:cNvSpPr txBox="1"/>
          <p:nvPr/>
        </p:nvSpPr>
        <p:spPr>
          <a:xfrm>
            <a:off x="950000" y="17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1. 앱 실행 및 대화 시작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채팅 화면에서 “내일 오전 10시까지 부산역에 도착해야 해”와 같이 자연어로 입력</a:t>
            </a:r>
          </a:p>
        </p:txBody>
      </p:sp>
      <p:sp>
        <p:nvSpPr>
          <p:cNvPr id="202" name="content_202"/>
          <p:cNvSpPr txBox="1"/>
          <p:nvPr/>
        </p:nvSpPr>
        <p:spPr>
          <a:xfrm>
            <a:off x="6250000" y="17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2. 필수 정보 확인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AI가 부족한 정보(출발지, 도착 일자·시간 등)를 대화로 되물어 필수 파라미터 완성</a:t>
            </a:r>
          </a:p>
        </p:txBody>
      </p:sp>
      <p:sp>
        <p:nvSpPr>
          <p:cNvPr id="203" name="content_203"/>
          <p:cNvSpPr txBox="1"/>
          <p:nvPr/>
        </p:nvSpPr>
        <p:spPr>
          <a:xfrm>
            <a:off x="950000" y="29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3. 경로 후보 제시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매진 여부가 반영된 경로 후보를 우선순위와 함께 표시, 사용자가 하나를 선택</a:t>
            </a:r>
          </a:p>
        </p:txBody>
      </p:sp>
      <p:sp>
        <p:nvSpPr>
          <p:cNvPr id="204" name="content_204"/>
          <p:cNvSpPr txBox="1"/>
          <p:nvPr/>
        </p:nvSpPr>
        <p:spPr>
          <a:xfrm>
            <a:off x="6250000" y="29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4. 자동 예매 진행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예매 가능 경로 선택 시 접근성 서비스를 통해 결제 직전 화면까지 자동 진행</a:t>
            </a:r>
          </a:p>
        </p:txBody>
      </p:sp>
      <p:sp>
        <p:nvSpPr>
          <p:cNvPr id="205" name="content_205"/>
          <p:cNvSpPr txBox="1"/>
          <p:nvPr/>
        </p:nvSpPr>
        <p:spPr>
          <a:xfrm>
            <a:off x="950000" y="41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5. 취소표 알림 (매진 시)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매진 경로 선택 시 좌석 조회를 자동 반복, 좌석 발생 시 푸시 알림으로 즉시 고지</a:t>
            </a:r>
          </a:p>
        </p:txBody>
      </p:sp>
      <p:sp>
        <p:nvSpPr>
          <p:cNvPr id="206" name="content_206"/>
          <p:cNvSpPr txBox="1"/>
          <p:nvPr/>
        </p:nvSpPr>
        <p:spPr>
          <a:xfrm>
            <a:off x="6250000" y="4100000"/>
            <a:ext cx="4950000" cy="102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6. 사용자 결제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결제 단계에서 제어권을 사용자에게 반환, 사용자가 결제 내용 확인 후 직접 결제</a:t>
            </a:r>
          </a:p>
        </p:txBody>
      </p:sp>
      <p:sp>
        <p:nvSpPr>
          <p:cNvPr id="207" name="content_207"/>
          <p:cNvSpPr txBox="1"/>
          <p:nvPr/>
        </p:nvSpPr>
        <p:spPr>
          <a:xfrm>
            <a:off x="950000" y="5170000"/>
            <a:ext cx="10250000" cy="7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ctr">
            <a:normAutofit/>
          </a:bodyPr>
          <a:lstStyle/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예외 상황 대응: 팝업·화면 구조 변경 등 예외 발생 시 Vision API로 화면을 해석해 대응하고, 처리 불가 시 현재 상태를 고지한 뒤 수동 조작으로 전환</a:t>
            </a:r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9" name="Auto Slide Number">
            <a:extLst>
              <a:ext uri="{FF2B5EF4-FFF2-40B4-BE49-F238E27FC236}">
                <a16:creationId xmlns:a16="http://schemas.microsoft.com/office/drawing/2014/main" id="{F03A28DD-4959-436F-A82A-465411E36E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87946CA-ABCC-435C-88E7-94F4DAE6B53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FD52322-2022-4E01-8BA1-7BE5C50FB65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3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5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실용성 및 확장 가능성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8" name="content_208"/>
          <p:cNvSpPr txBox="1"/>
          <p:nvPr/>
        </p:nvSpPr>
        <p:spPr>
          <a:xfrm>
            <a:off x="950000" y="1800000"/>
            <a:ext cx="4950000" cy="165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실제 사용 환경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안드로이드 앱 단일 설치로 동작하며 별도 장비가 필요 없음. 명절·주말 등 좌석 경쟁이 심한 시기에 활용 가치가 특히 높음</a:t>
            </a:r>
          </a:p>
        </p:txBody>
      </p:sp>
      <p:sp>
        <p:nvSpPr>
          <p:cNvPr id="209" name="content_209"/>
          <p:cNvSpPr txBox="1"/>
          <p:nvPr/>
        </p:nvSpPr>
        <p:spPr>
          <a:xfrm>
            <a:off x="6250000" y="1800000"/>
            <a:ext cx="4950000" cy="165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반복 사용 가치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출퇴근·출장 등 반복 이동 패턴에서 자주 쓰는 경로를 재사용, 사용할수록 입력 부담이 줄어드는 구조</a:t>
            </a:r>
          </a:p>
        </p:txBody>
      </p:sp>
      <p:sp>
        <p:nvSpPr>
          <p:cNvPr id="210" name="content_210"/>
          <p:cNvSpPr txBox="1"/>
          <p:nvPr/>
        </p:nvSpPr>
        <p:spPr>
          <a:xfrm>
            <a:off x="950000" y="3650000"/>
            <a:ext cx="4950000" cy="165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보안 및 신뢰성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결제는 항상 사용자가 직접 수행(자동 결제 없음), 계정·결제 정보는 저장하지 않음. 좌석 조회는 요청 주기를 제한하여 서버 부하를 최소화하고 이용약관 준수 범위 내에서 동작</a:t>
            </a:r>
          </a:p>
        </p:txBody>
      </p:sp>
      <p:sp>
        <p:nvSpPr>
          <p:cNvPr id="211" name="content_211"/>
          <p:cNvSpPr txBox="1"/>
          <p:nvPr/>
        </p:nvSpPr>
        <p:spPr>
          <a:xfrm>
            <a:off x="6250000" y="3650000"/>
            <a:ext cx="4950000" cy="165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확장 가능성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KTX·SRT 중심에서 고속버스·항공 등 좌석 기반 예매 전반으로 확장 가능. 음성 인터페이스를 추가해 고령층 접근성 강화 예정</a:t>
            </a:r>
          </a:p>
        </p:txBody>
      </p:sp>
      <p:pic>
        <p:nvPicPr>
          <p:cNvPr id="1020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 xml:space="preserve"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0" name="Auto Slide Number">
            <a:extLst>
              <a:ext uri="{FF2B5EF4-FFF2-40B4-BE49-F238E27FC236}">
                <a16:creationId xmlns:a16="http://schemas.microsoft.com/office/drawing/2014/main" id="{623768C6-1E77-434B-AF01-F644A8526F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09EBF7F1-4C1A-4BB6-ACF6-68E846D5C876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DEDA0E61-B5BF-4811-ABBF-BDFA2FA332D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8A62E3-D408-7FC8-9839-A8EBBDF10A5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4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95CFAAB-4B1E-5327-77CD-70660E75B81B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부록 - 출처</a:t>
            </a:r>
          </a:p>
        </p:txBody>
      </p:sp>
      <p:cxnSp>
        <p:nvCxnSpPr>
          <p:cNvPr id="1016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288B9181-33AB-4D8B-6EDA-A7A26948B16E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content_212"/>
          <p:cNvSpPr txBox="1"/>
          <p:nvPr/>
        </p:nvSpPr>
        <p:spPr>
          <a:xfrm>
            <a:off x="950000" y="1500000"/>
            <a:ext cx="10250000" cy="41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120000" tIns="60000" rIns="120000" bIns="60000" anchor="t">
            <a:normAutofit/>
          </a:bodyPr>
          <a:lstStyle/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외부 데이터 및 API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ODsay 대중교통 API (대중교통 경로 탐색) - www.odsay.com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LLM API (자연어 파라미터 추출 및 경로 우선순위 추론) - 사용 모델 확정 후 기재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Vision API (예외 화면 해석 및 대응)</a:t>
            </a:r>
          </a:p>
          <a:p>
            <a:pPr algn="l">
              <a:buNone/>
            </a:pPr>
            <a:r>
              <a:rPr lang="ko-KR" altLang="en-US" sz="8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 </a:t>
            </a:r>
          </a:p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연동 대상 서비스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코레일톡, SRT 등 기존 예매 애플리케이션 (예매 화면 연동 대상)</a:t>
            </a:r>
          </a:p>
          <a:p>
            <a:pPr algn="l">
              <a:buNone/>
            </a:pPr>
            <a:r>
              <a:rPr lang="ko-KR" altLang="en-US" sz="8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 </a:t>
            </a:r>
          </a:p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플랫폼 기술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Kotlin WebView, Android Accessibility Service, Android Intent</a:t>
            </a:r>
          </a:p>
          <a:p>
            <a:pPr algn="l">
              <a:buNone/>
            </a:pPr>
            <a:r>
              <a:rPr lang="ko-KR" altLang="en-US" sz="8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 </a:t>
            </a:r>
          </a:p>
          <a:p>
            <a:pPr algn="l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직접 제작 자료</a:t>
            </a:r>
          </a:p>
          <a:p>
            <a:pPr algn="l">
              <a:buNone/>
            </a:pP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</a:rPr>
              <a:t xml:space="preserve">- 본 문서 내 서비스 흐름도, 구조도, 화면 목업 등 도식 전체는 팀에서 직접 제작</a:t>
            </a:r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11" name="Auto Slide Number">
            <a:extLst>
              <a:ext uri="{FF2B5EF4-FFF2-40B4-BE49-F238E27FC236}">
                <a16:creationId xmlns:a16="http://schemas.microsoft.com/office/drawing/2014/main" id="{7C251B65-C9E9-4266-B0D1-7D129D2AC8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2AD0EBC-FAE6-4543-8956-6420D774127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4D2502F-6203-4A2B-81A3-290D9B809F4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9A7CDF6C-182F-BE6D-CF16-CBDDB8E1E65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 xml:space="preserve"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761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837</Words>
  <Application>Microsoft Macintosh PowerPoint</Application>
  <DocSecurity>0</DocSecurity>
  <PresentationFormat>와이드스크린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임창건</cp:lastModifiedBy>
  <cp:revision>76</cp:revision>
  <dcterms:created xsi:type="dcterms:W3CDTF">2026-06-30T07:31:27Z</dcterms:created>
  <dcterms:modified xsi:type="dcterms:W3CDTF">2026-07-06T06:57:26Z</dcterms:modified>
</cp:coreProperties>
</file>